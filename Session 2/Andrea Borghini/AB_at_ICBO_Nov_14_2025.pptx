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4" r:id="rId3"/>
  </p:sldMasterIdLst>
  <p:notesMasterIdLst>
    <p:notesMasterId r:id="rId31"/>
  </p:notesMasterIdLst>
  <p:sldIdLst>
    <p:sldId id="262" r:id="rId4"/>
    <p:sldId id="556" r:id="rId5"/>
    <p:sldId id="557" r:id="rId6"/>
    <p:sldId id="583" r:id="rId7"/>
    <p:sldId id="597" r:id="rId8"/>
    <p:sldId id="599" r:id="rId9"/>
    <p:sldId id="598" r:id="rId10"/>
    <p:sldId id="600" r:id="rId11"/>
    <p:sldId id="373" r:id="rId12"/>
    <p:sldId id="589" r:id="rId13"/>
    <p:sldId id="590" r:id="rId14"/>
    <p:sldId id="591" r:id="rId15"/>
    <p:sldId id="592" r:id="rId16"/>
    <p:sldId id="593" r:id="rId17"/>
    <p:sldId id="594" r:id="rId18"/>
    <p:sldId id="595" r:id="rId19"/>
    <p:sldId id="596" r:id="rId20"/>
    <p:sldId id="584" r:id="rId21"/>
    <p:sldId id="585" r:id="rId22"/>
    <p:sldId id="601" r:id="rId23"/>
    <p:sldId id="602" r:id="rId24"/>
    <p:sldId id="603" r:id="rId25"/>
    <p:sldId id="588" r:id="rId26"/>
    <p:sldId id="604" r:id="rId27"/>
    <p:sldId id="605" r:id="rId28"/>
    <p:sldId id="606" r:id="rId29"/>
    <p:sldId id="563" r:id="rId3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CE7"/>
    <a:srgbClr val="F6E677"/>
    <a:srgbClr val="FFA8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53"/>
    <p:restoredTop sz="94544"/>
  </p:normalViewPr>
  <p:slideViewPr>
    <p:cSldViewPr snapToGrid="0">
      <p:cViewPr varScale="1">
        <p:scale>
          <a:sx n="59" d="100"/>
          <a:sy n="59" d="100"/>
        </p:scale>
        <p:origin x="216" y="1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CDB5A8-D63A-42F9-B70F-BAAB99F9CC1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717A218-B662-48BD-BAAB-5091DC3514D0}">
      <dgm:prSet/>
      <dgm:spPr/>
      <dgm:t>
        <a:bodyPr/>
        <a:lstStyle/>
        <a:p>
          <a:pPr>
            <a:lnSpc>
              <a:spcPct val="100000"/>
            </a:lnSpc>
          </a:pPr>
          <a:r>
            <a:rPr lang="it-IT" dirty="0">
              <a:solidFill>
                <a:schemeClr val="bg1"/>
              </a:solidFill>
            </a:rPr>
            <a:t>1. </a:t>
          </a:r>
          <a:r>
            <a:rPr lang="it-IT" dirty="0" err="1">
              <a:solidFill>
                <a:schemeClr val="bg1"/>
              </a:solidFill>
            </a:rPr>
            <a:t>Uniqueness</a:t>
          </a:r>
          <a:r>
            <a:rPr lang="it-IT" dirty="0">
              <a:solidFill>
                <a:schemeClr val="bg1"/>
              </a:solidFill>
            </a:rPr>
            <a:t>: </a:t>
          </a:r>
          <a:r>
            <a:rPr lang="it-IT" dirty="0" err="1">
              <a:solidFill>
                <a:schemeClr val="bg1"/>
              </a:solidFill>
            </a:rPr>
            <a:t>if</a:t>
          </a:r>
          <a:r>
            <a:rPr lang="it-IT" dirty="0">
              <a:solidFill>
                <a:schemeClr val="bg1"/>
              </a:solidFill>
            </a:rPr>
            <a:t> </a:t>
          </a:r>
          <a:r>
            <a:rPr lang="it-IT" dirty="0" err="1">
              <a:solidFill>
                <a:schemeClr val="bg1"/>
              </a:solidFill>
            </a:rPr>
            <a:t>something</a:t>
          </a:r>
          <a:r>
            <a:rPr lang="it-IT" dirty="0">
              <a:solidFill>
                <a:schemeClr val="bg1"/>
              </a:solidFill>
            </a:rPr>
            <a:t> </a:t>
          </a:r>
          <a:r>
            <a:rPr lang="it-IT" dirty="0" err="1">
              <a:solidFill>
                <a:schemeClr val="bg1"/>
              </a:solidFill>
            </a:rPr>
            <a:t>is</a:t>
          </a:r>
          <a:r>
            <a:rPr lang="it-IT" dirty="0">
              <a:solidFill>
                <a:schemeClr val="bg1"/>
              </a:solidFill>
            </a:rPr>
            <a:t> food </a:t>
          </a:r>
          <a:r>
            <a:rPr lang="it-IT" dirty="0" err="1">
              <a:solidFill>
                <a:schemeClr val="bg1"/>
              </a:solidFill>
            </a:rPr>
            <a:t>waste</a:t>
          </a:r>
          <a:r>
            <a:rPr lang="it-IT" dirty="0">
              <a:solidFill>
                <a:schemeClr val="bg1"/>
              </a:solidFill>
            </a:rPr>
            <a:t>, </a:t>
          </a:r>
          <a:r>
            <a:rPr lang="it-IT" dirty="0" err="1">
              <a:solidFill>
                <a:schemeClr val="bg1"/>
              </a:solidFill>
            </a:rPr>
            <a:t>then</a:t>
          </a:r>
          <a:r>
            <a:rPr lang="it-IT" dirty="0">
              <a:solidFill>
                <a:schemeClr val="bg1"/>
              </a:solidFill>
            </a:rPr>
            <a:t> </a:t>
          </a:r>
          <a:r>
            <a:rPr lang="it-IT" dirty="0" err="1">
              <a:solidFill>
                <a:schemeClr val="bg1"/>
              </a:solidFill>
            </a:rPr>
            <a:t>it</a:t>
          </a:r>
          <a:r>
            <a:rPr lang="it-IT" dirty="0">
              <a:solidFill>
                <a:schemeClr val="bg1"/>
              </a:solidFill>
            </a:rPr>
            <a:t> </a:t>
          </a:r>
          <a:r>
            <a:rPr lang="it-IT" dirty="0" err="1">
              <a:solidFill>
                <a:schemeClr val="bg1"/>
              </a:solidFill>
            </a:rPr>
            <a:t>cannot</a:t>
          </a:r>
          <a:r>
            <a:rPr lang="it-IT" dirty="0">
              <a:solidFill>
                <a:schemeClr val="bg1"/>
              </a:solidFill>
            </a:rPr>
            <a:t> be food, </a:t>
          </a:r>
          <a:r>
            <a:rPr lang="it-IT" dirty="0" err="1">
              <a:solidFill>
                <a:schemeClr val="bg1"/>
              </a:solidFill>
            </a:rPr>
            <a:t>as</a:t>
          </a:r>
          <a:r>
            <a:rPr lang="it-IT" dirty="0">
              <a:solidFill>
                <a:schemeClr val="bg1"/>
              </a:solidFill>
            </a:rPr>
            <a:t> food </a:t>
          </a:r>
          <a:r>
            <a:rPr lang="it-IT" dirty="0" err="1">
              <a:solidFill>
                <a:schemeClr val="bg1"/>
              </a:solidFill>
            </a:rPr>
            <a:t>waste</a:t>
          </a:r>
          <a:r>
            <a:rPr lang="it-IT" dirty="0">
              <a:solidFill>
                <a:schemeClr val="bg1"/>
              </a:solidFill>
            </a:rPr>
            <a:t> </a:t>
          </a:r>
          <a:r>
            <a:rPr lang="it-IT" dirty="0" err="1">
              <a:solidFill>
                <a:schemeClr val="bg1"/>
              </a:solidFill>
            </a:rPr>
            <a:t>is</a:t>
          </a:r>
          <a:r>
            <a:rPr lang="it-IT" dirty="0">
              <a:solidFill>
                <a:schemeClr val="bg1"/>
              </a:solidFill>
            </a:rPr>
            <a:t> no </a:t>
          </a:r>
          <a:r>
            <a:rPr lang="it-IT" dirty="0" err="1">
              <a:solidFill>
                <a:schemeClr val="bg1"/>
              </a:solidFill>
            </a:rPr>
            <a:t>longer</a:t>
          </a:r>
          <a:r>
            <a:rPr lang="it-IT" dirty="0">
              <a:solidFill>
                <a:schemeClr val="bg1"/>
              </a:solidFill>
            </a:rPr>
            <a:t> </a:t>
          </a:r>
          <a:r>
            <a:rPr lang="it-IT" dirty="0" err="1">
              <a:solidFill>
                <a:schemeClr val="bg1"/>
              </a:solidFill>
            </a:rPr>
            <a:t>edible</a:t>
          </a:r>
          <a:r>
            <a:rPr lang="it-IT" dirty="0">
              <a:solidFill>
                <a:schemeClr val="bg1"/>
              </a:solidFill>
            </a:rPr>
            <a:t> or </a:t>
          </a:r>
          <a:r>
            <a:rPr lang="it-IT" dirty="0" err="1">
              <a:solidFill>
                <a:schemeClr val="bg1"/>
              </a:solidFill>
            </a:rPr>
            <a:t>may</a:t>
          </a:r>
          <a:r>
            <a:rPr lang="it-IT" dirty="0">
              <a:solidFill>
                <a:schemeClr val="bg1"/>
              </a:solidFill>
            </a:rPr>
            <a:t> be </a:t>
          </a:r>
          <a:r>
            <a:rPr lang="it-IT" dirty="0" err="1">
              <a:solidFill>
                <a:schemeClr val="bg1"/>
              </a:solidFill>
            </a:rPr>
            <a:t>harmful</a:t>
          </a:r>
          <a:r>
            <a:rPr lang="it-IT" dirty="0">
              <a:solidFill>
                <a:schemeClr val="bg1"/>
              </a:solidFill>
            </a:rPr>
            <a:t> to health</a:t>
          </a:r>
          <a:endParaRPr lang="en-US" dirty="0">
            <a:solidFill>
              <a:schemeClr val="bg1"/>
            </a:solidFill>
          </a:endParaRPr>
        </a:p>
      </dgm:t>
    </dgm:pt>
    <dgm:pt modelId="{F5573CC1-5E5D-4677-B051-BAA760B32EB6}" type="parTrans" cxnId="{FF105EBC-8696-44AC-871D-65AA9B2C6357}">
      <dgm:prSet/>
      <dgm:spPr/>
      <dgm:t>
        <a:bodyPr/>
        <a:lstStyle/>
        <a:p>
          <a:endParaRPr lang="en-US"/>
        </a:p>
      </dgm:t>
    </dgm:pt>
    <dgm:pt modelId="{ADE6DE2D-5945-45B8-83DC-2D0D056C7871}" type="sibTrans" cxnId="{FF105EBC-8696-44AC-871D-65AA9B2C6357}">
      <dgm:prSet/>
      <dgm:spPr/>
      <dgm:t>
        <a:bodyPr/>
        <a:lstStyle/>
        <a:p>
          <a:endParaRPr lang="en-US"/>
        </a:p>
      </dgm:t>
    </dgm:pt>
    <dgm:pt modelId="{4F03001A-BB34-4117-9164-C354A97559A2}">
      <dgm:prSet/>
      <dgm:spPr/>
      <dgm:t>
        <a:bodyPr/>
        <a:lstStyle/>
        <a:p>
          <a:pPr>
            <a:lnSpc>
              <a:spcPct val="100000"/>
            </a:lnSpc>
          </a:pPr>
          <a:r>
            <a:rPr lang="it-IT" dirty="0">
              <a:solidFill>
                <a:schemeClr val="bg1"/>
              </a:solidFill>
            </a:rPr>
            <a:t>2. </a:t>
          </a:r>
          <a:r>
            <a:rPr lang="it-IT" dirty="0" err="1">
              <a:solidFill>
                <a:schemeClr val="bg1"/>
              </a:solidFill>
            </a:rPr>
            <a:t>Irreversibility</a:t>
          </a:r>
          <a:r>
            <a:rPr lang="it-IT" dirty="0">
              <a:solidFill>
                <a:schemeClr val="bg1"/>
              </a:solidFill>
            </a:rPr>
            <a:t>: food </a:t>
          </a:r>
          <a:r>
            <a:rPr lang="it-IT" dirty="0" err="1">
              <a:solidFill>
                <a:schemeClr val="bg1"/>
              </a:solidFill>
            </a:rPr>
            <a:t>that</a:t>
          </a:r>
          <a:r>
            <a:rPr lang="it-IT" dirty="0">
              <a:solidFill>
                <a:schemeClr val="bg1"/>
              </a:solidFill>
            </a:rPr>
            <a:t> </a:t>
          </a:r>
          <a:r>
            <a:rPr lang="it-IT" dirty="0" err="1">
              <a:solidFill>
                <a:schemeClr val="bg1"/>
              </a:solidFill>
            </a:rPr>
            <a:t>has</a:t>
          </a:r>
          <a:r>
            <a:rPr lang="it-IT" dirty="0">
              <a:solidFill>
                <a:schemeClr val="bg1"/>
              </a:solidFill>
            </a:rPr>
            <a:t> </a:t>
          </a:r>
          <a:r>
            <a:rPr lang="it-IT" dirty="0" err="1">
              <a:solidFill>
                <a:schemeClr val="bg1"/>
              </a:solidFill>
            </a:rPr>
            <a:t>become</a:t>
          </a:r>
          <a:r>
            <a:rPr lang="it-IT" dirty="0">
              <a:solidFill>
                <a:schemeClr val="bg1"/>
              </a:solidFill>
            </a:rPr>
            <a:t> </a:t>
          </a:r>
          <a:r>
            <a:rPr lang="it-IT" dirty="0" err="1">
              <a:solidFill>
                <a:schemeClr val="bg1"/>
              </a:solidFill>
            </a:rPr>
            <a:t>waste</a:t>
          </a:r>
          <a:r>
            <a:rPr lang="it-IT" dirty="0">
              <a:solidFill>
                <a:schemeClr val="bg1"/>
              </a:solidFill>
            </a:rPr>
            <a:t> </a:t>
          </a:r>
          <a:r>
            <a:rPr lang="it-IT" dirty="0" err="1">
              <a:solidFill>
                <a:schemeClr val="bg1"/>
              </a:solidFill>
            </a:rPr>
            <a:t>cannot</a:t>
          </a:r>
          <a:r>
            <a:rPr lang="it-IT" dirty="0">
              <a:solidFill>
                <a:schemeClr val="bg1"/>
              </a:solidFill>
            </a:rPr>
            <a:t> be </a:t>
          </a:r>
          <a:r>
            <a:rPr lang="it-IT" dirty="0" err="1">
              <a:solidFill>
                <a:schemeClr val="bg1"/>
              </a:solidFill>
            </a:rPr>
            <a:t>turned</a:t>
          </a:r>
          <a:r>
            <a:rPr lang="it-IT" dirty="0">
              <a:solidFill>
                <a:schemeClr val="bg1"/>
              </a:solidFill>
            </a:rPr>
            <a:t> </a:t>
          </a:r>
          <a:r>
            <a:rPr lang="it-IT" dirty="0" err="1">
              <a:solidFill>
                <a:schemeClr val="bg1"/>
              </a:solidFill>
            </a:rPr>
            <a:t>into</a:t>
          </a:r>
          <a:r>
            <a:rPr lang="it-IT" dirty="0">
              <a:solidFill>
                <a:schemeClr val="bg1"/>
              </a:solidFill>
            </a:rPr>
            <a:t> food </a:t>
          </a:r>
          <a:r>
            <a:rPr lang="it-IT" dirty="0" err="1">
              <a:solidFill>
                <a:schemeClr val="bg1"/>
              </a:solidFill>
            </a:rPr>
            <a:t>again</a:t>
          </a:r>
          <a:endParaRPr lang="en-US" dirty="0">
            <a:solidFill>
              <a:schemeClr val="bg1"/>
            </a:solidFill>
          </a:endParaRPr>
        </a:p>
      </dgm:t>
    </dgm:pt>
    <dgm:pt modelId="{861314B5-C3CC-4D29-85A3-88059273DB3A}" type="parTrans" cxnId="{3F480009-7588-41BE-8B29-451BFA568548}">
      <dgm:prSet/>
      <dgm:spPr/>
      <dgm:t>
        <a:bodyPr/>
        <a:lstStyle/>
        <a:p>
          <a:endParaRPr lang="en-US"/>
        </a:p>
      </dgm:t>
    </dgm:pt>
    <dgm:pt modelId="{98F38D1C-0A61-4F43-9DED-50214EE5AA5C}" type="sibTrans" cxnId="{3F480009-7588-41BE-8B29-451BFA568548}">
      <dgm:prSet/>
      <dgm:spPr/>
      <dgm:t>
        <a:bodyPr/>
        <a:lstStyle/>
        <a:p>
          <a:endParaRPr lang="en-US"/>
        </a:p>
      </dgm:t>
    </dgm:pt>
    <dgm:pt modelId="{23318756-C0C0-40B9-B15B-94A8267BCFFC}" type="pres">
      <dgm:prSet presAssocID="{D9CDB5A8-D63A-42F9-B70F-BAAB99F9CC12}" presName="root" presStyleCnt="0">
        <dgm:presLayoutVars>
          <dgm:dir/>
          <dgm:resizeHandles val="exact"/>
        </dgm:presLayoutVars>
      </dgm:prSet>
      <dgm:spPr/>
    </dgm:pt>
    <dgm:pt modelId="{FCD379A7-393E-4AC4-86BA-D8512AB5026B}" type="pres">
      <dgm:prSet presAssocID="{D717A218-B662-48BD-BAAB-5091DC3514D0}" presName="compNode" presStyleCnt="0"/>
      <dgm:spPr/>
    </dgm:pt>
    <dgm:pt modelId="{A8E2E767-C77D-40CC-96E1-F9A9C40B1FA6}" type="pres">
      <dgm:prSet presAssocID="{D717A218-B662-48BD-BAAB-5091DC3514D0}" presName="bgRect" presStyleLbl="bgShp" presStyleIdx="0" presStyleCnt="2"/>
      <dgm:spPr/>
    </dgm:pt>
    <dgm:pt modelId="{2EDF2D8C-E3BA-4C54-8915-56FFD988F458}" type="pres">
      <dgm:prSet presAssocID="{D717A218-B662-48BD-BAAB-5091DC3514D0}" presName="iconRect" presStyleLbl="node1" presStyleIdx="0" presStyleCnt="2"/>
      <dgm:spPr/>
    </dgm:pt>
    <dgm:pt modelId="{76DBA39C-0301-4257-89DF-105CF496A4A0}" type="pres">
      <dgm:prSet presAssocID="{D717A218-B662-48BD-BAAB-5091DC3514D0}" presName="spaceRect" presStyleCnt="0"/>
      <dgm:spPr/>
    </dgm:pt>
    <dgm:pt modelId="{70E0D09A-714C-437E-99DB-BCC15054282D}" type="pres">
      <dgm:prSet presAssocID="{D717A218-B662-48BD-BAAB-5091DC3514D0}" presName="parTx" presStyleLbl="revTx" presStyleIdx="0" presStyleCnt="2">
        <dgm:presLayoutVars>
          <dgm:chMax val="0"/>
          <dgm:chPref val="0"/>
        </dgm:presLayoutVars>
      </dgm:prSet>
      <dgm:spPr/>
    </dgm:pt>
    <dgm:pt modelId="{4BE5AADA-4E09-49C6-A176-B744BB09784A}" type="pres">
      <dgm:prSet presAssocID="{ADE6DE2D-5945-45B8-83DC-2D0D056C7871}" presName="sibTrans" presStyleCnt="0"/>
      <dgm:spPr/>
    </dgm:pt>
    <dgm:pt modelId="{DFBD135A-D6E3-4F11-8CD5-9C1BA452A66A}" type="pres">
      <dgm:prSet presAssocID="{4F03001A-BB34-4117-9164-C354A97559A2}" presName="compNode" presStyleCnt="0"/>
      <dgm:spPr/>
    </dgm:pt>
    <dgm:pt modelId="{7BD11CB1-13D2-4166-AB81-E7D029701AC6}" type="pres">
      <dgm:prSet presAssocID="{4F03001A-BB34-4117-9164-C354A97559A2}" presName="bgRect" presStyleLbl="bgShp" presStyleIdx="1" presStyleCnt="2"/>
      <dgm:spPr/>
    </dgm:pt>
    <dgm:pt modelId="{95C03C5B-577F-47D3-8FFA-8E52901FF96C}" type="pres">
      <dgm:prSet presAssocID="{4F03001A-BB34-4117-9164-C354A97559A2}" presName="iconRect" presStyleLbl="node1" presStyleIdx="1" presStyleCnt="2"/>
      <dgm:spPr/>
    </dgm:pt>
    <dgm:pt modelId="{CBD48FB5-9766-45E2-A2DF-9DC8B6DC435E}" type="pres">
      <dgm:prSet presAssocID="{4F03001A-BB34-4117-9164-C354A97559A2}" presName="spaceRect" presStyleCnt="0"/>
      <dgm:spPr/>
    </dgm:pt>
    <dgm:pt modelId="{59EBFF6D-B6A5-4969-9C74-56427D8A8122}" type="pres">
      <dgm:prSet presAssocID="{4F03001A-BB34-4117-9164-C354A97559A2}" presName="parTx" presStyleLbl="revTx" presStyleIdx="1" presStyleCnt="2">
        <dgm:presLayoutVars>
          <dgm:chMax val="0"/>
          <dgm:chPref val="0"/>
        </dgm:presLayoutVars>
      </dgm:prSet>
      <dgm:spPr/>
    </dgm:pt>
  </dgm:ptLst>
  <dgm:cxnLst>
    <dgm:cxn modelId="{3F480009-7588-41BE-8B29-451BFA568548}" srcId="{D9CDB5A8-D63A-42F9-B70F-BAAB99F9CC12}" destId="{4F03001A-BB34-4117-9164-C354A97559A2}" srcOrd="1" destOrd="0" parTransId="{861314B5-C3CC-4D29-85A3-88059273DB3A}" sibTransId="{98F38D1C-0A61-4F43-9DED-50214EE5AA5C}"/>
    <dgm:cxn modelId="{D9A4A426-0D51-4555-A890-6E695ABBC883}" type="presOf" srcId="{D9CDB5A8-D63A-42F9-B70F-BAAB99F9CC12}" destId="{23318756-C0C0-40B9-B15B-94A8267BCFFC}" srcOrd="0" destOrd="0" presId="urn:microsoft.com/office/officeart/2018/2/layout/IconVerticalSolidList"/>
    <dgm:cxn modelId="{638FB68F-F828-4F9C-9734-C5666590477D}" type="presOf" srcId="{D717A218-B662-48BD-BAAB-5091DC3514D0}" destId="{70E0D09A-714C-437E-99DB-BCC15054282D}" srcOrd="0" destOrd="0" presId="urn:microsoft.com/office/officeart/2018/2/layout/IconVerticalSolidList"/>
    <dgm:cxn modelId="{D050E8B9-0367-45DB-AED6-0E3EDCEC5241}" type="presOf" srcId="{4F03001A-BB34-4117-9164-C354A97559A2}" destId="{59EBFF6D-B6A5-4969-9C74-56427D8A8122}" srcOrd="0" destOrd="0" presId="urn:microsoft.com/office/officeart/2018/2/layout/IconVerticalSolidList"/>
    <dgm:cxn modelId="{FF105EBC-8696-44AC-871D-65AA9B2C6357}" srcId="{D9CDB5A8-D63A-42F9-B70F-BAAB99F9CC12}" destId="{D717A218-B662-48BD-BAAB-5091DC3514D0}" srcOrd="0" destOrd="0" parTransId="{F5573CC1-5E5D-4677-B051-BAA760B32EB6}" sibTransId="{ADE6DE2D-5945-45B8-83DC-2D0D056C7871}"/>
    <dgm:cxn modelId="{1949FDAE-59BB-4FCA-99EA-63339E74F180}" type="presParOf" srcId="{23318756-C0C0-40B9-B15B-94A8267BCFFC}" destId="{FCD379A7-393E-4AC4-86BA-D8512AB5026B}" srcOrd="0" destOrd="0" presId="urn:microsoft.com/office/officeart/2018/2/layout/IconVerticalSolidList"/>
    <dgm:cxn modelId="{B8343927-F1CD-4E34-B032-1CEFD3D37136}" type="presParOf" srcId="{FCD379A7-393E-4AC4-86BA-D8512AB5026B}" destId="{A8E2E767-C77D-40CC-96E1-F9A9C40B1FA6}" srcOrd="0" destOrd="0" presId="urn:microsoft.com/office/officeart/2018/2/layout/IconVerticalSolidList"/>
    <dgm:cxn modelId="{2DCDF408-992F-4486-BFDB-E38704BFE4BC}" type="presParOf" srcId="{FCD379A7-393E-4AC4-86BA-D8512AB5026B}" destId="{2EDF2D8C-E3BA-4C54-8915-56FFD988F458}" srcOrd="1" destOrd="0" presId="urn:microsoft.com/office/officeart/2018/2/layout/IconVerticalSolidList"/>
    <dgm:cxn modelId="{3B16B8C0-E8D5-46F2-B559-6E0C0DA3E7A9}" type="presParOf" srcId="{FCD379A7-393E-4AC4-86BA-D8512AB5026B}" destId="{76DBA39C-0301-4257-89DF-105CF496A4A0}" srcOrd="2" destOrd="0" presId="urn:microsoft.com/office/officeart/2018/2/layout/IconVerticalSolidList"/>
    <dgm:cxn modelId="{B8826E95-BFB3-4F4D-814E-9392F2D069A1}" type="presParOf" srcId="{FCD379A7-393E-4AC4-86BA-D8512AB5026B}" destId="{70E0D09A-714C-437E-99DB-BCC15054282D}" srcOrd="3" destOrd="0" presId="urn:microsoft.com/office/officeart/2018/2/layout/IconVerticalSolidList"/>
    <dgm:cxn modelId="{622FCB98-009F-443E-9B99-DE716B049DF6}" type="presParOf" srcId="{23318756-C0C0-40B9-B15B-94A8267BCFFC}" destId="{4BE5AADA-4E09-49C6-A176-B744BB09784A}" srcOrd="1" destOrd="0" presId="urn:microsoft.com/office/officeart/2018/2/layout/IconVerticalSolidList"/>
    <dgm:cxn modelId="{5A4E8CE3-A8D3-42F6-9869-9A74D9DDED0E}" type="presParOf" srcId="{23318756-C0C0-40B9-B15B-94A8267BCFFC}" destId="{DFBD135A-D6E3-4F11-8CD5-9C1BA452A66A}" srcOrd="2" destOrd="0" presId="urn:microsoft.com/office/officeart/2018/2/layout/IconVerticalSolidList"/>
    <dgm:cxn modelId="{CE6C53AA-EF95-47B6-9B5B-6ACAFF25E83F}" type="presParOf" srcId="{DFBD135A-D6E3-4F11-8CD5-9C1BA452A66A}" destId="{7BD11CB1-13D2-4166-AB81-E7D029701AC6}" srcOrd="0" destOrd="0" presId="urn:microsoft.com/office/officeart/2018/2/layout/IconVerticalSolidList"/>
    <dgm:cxn modelId="{A0BAF31F-C4C0-4CAF-B492-90AA9F71002F}" type="presParOf" srcId="{DFBD135A-D6E3-4F11-8CD5-9C1BA452A66A}" destId="{95C03C5B-577F-47D3-8FFA-8E52901FF96C}" srcOrd="1" destOrd="0" presId="urn:microsoft.com/office/officeart/2018/2/layout/IconVerticalSolidList"/>
    <dgm:cxn modelId="{582E8584-A8D0-4925-8BC0-D74E88F24E09}" type="presParOf" srcId="{DFBD135A-D6E3-4F11-8CD5-9C1BA452A66A}" destId="{CBD48FB5-9766-45E2-A2DF-9DC8B6DC435E}" srcOrd="2" destOrd="0" presId="urn:microsoft.com/office/officeart/2018/2/layout/IconVerticalSolidList"/>
    <dgm:cxn modelId="{10CB7DEB-F9BB-41E4-9DE8-64E473E60A91}" type="presParOf" srcId="{DFBD135A-D6E3-4F11-8CD5-9C1BA452A66A}" destId="{59EBFF6D-B6A5-4969-9C74-56427D8A812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743AFF-7A08-4B57-975D-9BAF0D6DFAC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3C796A5-FE1B-4F81-B3CD-9BA5346BA932}">
      <dgm:prSet custT="1"/>
      <dgm:spPr/>
      <dgm:t>
        <a:bodyPr/>
        <a:lstStyle/>
        <a:p>
          <a:pPr>
            <a:lnSpc>
              <a:spcPct val="100000"/>
            </a:lnSpc>
          </a:pPr>
          <a:r>
            <a:rPr lang="en-GB" sz="2300" i="1" dirty="0">
              <a:solidFill>
                <a:schemeClr val="bg1"/>
              </a:solidFill>
            </a:rPr>
            <a:t>“Discussions of food waste should be reframed away from the</a:t>
          </a:r>
          <a:r>
            <a:rPr lang="en-GB" sz="2300" dirty="0">
              <a:solidFill>
                <a:schemeClr val="bg1"/>
              </a:solidFill>
            </a:rPr>
            <a:t> </a:t>
          </a:r>
          <a:r>
            <a:rPr lang="en-GB" sz="2300" i="1" dirty="0">
              <a:solidFill>
                <a:schemeClr val="bg1"/>
              </a:solidFill>
            </a:rPr>
            <a:t>concept of ‘waste.’ […] Referring instead to ‘wasted food’.”</a:t>
          </a:r>
          <a:endParaRPr lang="en-US" sz="2300" dirty="0">
            <a:solidFill>
              <a:schemeClr val="bg1"/>
            </a:solidFill>
          </a:endParaRPr>
        </a:p>
      </dgm:t>
    </dgm:pt>
    <dgm:pt modelId="{6BD85203-96B1-455B-8AE1-B4AF4ADE8CD0}" type="parTrans" cxnId="{956A64D8-CF42-4339-AC66-B4001AD61D35}">
      <dgm:prSet/>
      <dgm:spPr/>
      <dgm:t>
        <a:bodyPr/>
        <a:lstStyle/>
        <a:p>
          <a:endParaRPr lang="en-US"/>
        </a:p>
      </dgm:t>
    </dgm:pt>
    <dgm:pt modelId="{76D3DBE4-05FF-42EB-99F3-39936389F56F}" type="sibTrans" cxnId="{956A64D8-CF42-4339-AC66-B4001AD61D35}">
      <dgm:prSet/>
      <dgm:spPr/>
      <dgm:t>
        <a:bodyPr/>
        <a:lstStyle/>
        <a:p>
          <a:endParaRPr lang="en-US"/>
        </a:p>
      </dgm:t>
    </dgm:pt>
    <dgm:pt modelId="{168E95BD-96E4-4F2F-89D1-D3B13E405A43}">
      <dgm:prSet custT="1"/>
      <dgm:spPr/>
      <dgm:t>
        <a:bodyPr/>
        <a:lstStyle/>
        <a:p>
          <a:pPr>
            <a:lnSpc>
              <a:spcPct val="100000"/>
            </a:lnSpc>
          </a:pPr>
          <a:r>
            <a:rPr lang="en-GB" sz="2100" dirty="0">
              <a:solidFill>
                <a:schemeClr val="bg1"/>
              </a:solidFill>
            </a:rPr>
            <a:t>=&gt; Wasted’ stands for a property. But what kind of property? We do not typically </a:t>
          </a:r>
          <a:r>
            <a:rPr lang="en-GB" sz="2100" i="1" dirty="0">
              <a:solidFill>
                <a:schemeClr val="bg1"/>
              </a:solidFill>
            </a:rPr>
            <a:t>perceive </a:t>
          </a:r>
          <a:r>
            <a:rPr lang="en-GB" sz="2100" dirty="0" err="1">
              <a:solidFill>
                <a:schemeClr val="bg1"/>
              </a:solidFill>
            </a:rPr>
            <a:t>wastedness</a:t>
          </a:r>
          <a:r>
            <a:rPr lang="en-GB" sz="2100" dirty="0">
              <a:solidFill>
                <a:schemeClr val="bg1"/>
              </a:solidFill>
            </a:rPr>
            <a:t>—we perceive, for example, food being rotten, which is not equivalent to </a:t>
          </a:r>
          <a:r>
            <a:rPr lang="en-GB" sz="2100" dirty="0" err="1">
              <a:solidFill>
                <a:schemeClr val="bg1"/>
              </a:solidFill>
            </a:rPr>
            <a:t>wastedness</a:t>
          </a:r>
          <a:r>
            <a:rPr lang="en-GB" sz="2100" dirty="0"/>
            <a:t>.</a:t>
          </a:r>
          <a:endParaRPr lang="en-US" sz="2100" dirty="0"/>
        </a:p>
      </dgm:t>
    </dgm:pt>
    <dgm:pt modelId="{97C039DF-2DFB-4A8A-B874-F50B171CF35D}" type="parTrans" cxnId="{5B206C5E-1B6D-43C4-A90C-C0A937A2B354}">
      <dgm:prSet/>
      <dgm:spPr/>
      <dgm:t>
        <a:bodyPr/>
        <a:lstStyle/>
        <a:p>
          <a:endParaRPr lang="en-US"/>
        </a:p>
      </dgm:t>
    </dgm:pt>
    <dgm:pt modelId="{56CF6B44-291D-4FF4-AE0C-C8C3AAC76418}" type="sibTrans" cxnId="{5B206C5E-1B6D-43C4-A90C-C0A937A2B354}">
      <dgm:prSet/>
      <dgm:spPr/>
      <dgm:t>
        <a:bodyPr/>
        <a:lstStyle/>
        <a:p>
          <a:endParaRPr lang="en-US"/>
        </a:p>
      </dgm:t>
    </dgm:pt>
    <dgm:pt modelId="{E4BDC786-110C-4E9B-8D13-D4D391C04A8F}" type="pres">
      <dgm:prSet presAssocID="{E7743AFF-7A08-4B57-975D-9BAF0D6DFAC1}" presName="root" presStyleCnt="0">
        <dgm:presLayoutVars>
          <dgm:dir/>
          <dgm:resizeHandles val="exact"/>
        </dgm:presLayoutVars>
      </dgm:prSet>
      <dgm:spPr/>
    </dgm:pt>
    <dgm:pt modelId="{7449C818-48C6-4842-95F8-F6FC2064ABF7}" type="pres">
      <dgm:prSet presAssocID="{43C796A5-FE1B-4F81-B3CD-9BA5346BA932}" presName="compNode" presStyleCnt="0"/>
      <dgm:spPr/>
    </dgm:pt>
    <dgm:pt modelId="{82E3A524-6C50-4945-9D48-566192D0187B}" type="pres">
      <dgm:prSet presAssocID="{43C796A5-FE1B-4F81-B3CD-9BA5346BA932}" presName="bgRect" presStyleLbl="bgShp" presStyleIdx="0" presStyleCnt="2"/>
      <dgm:spPr/>
    </dgm:pt>
    <dgm:pt modelId="{FA55840C-DC49-45F7-A74F-A4C984C0C951}" type="pres">
      <dgm:prSet presAssocID="{43C796A5-FE1B-4F81-B3CD-9BA5346BA932}" presName="iconRect" presStyleLbl="node1" presStyleIdx="0" presStyleCnt="2"/>
      <dgm:spPr/>
    </dgm:pt>
    <dgm:pt modelId="{5F4C6A93-145A-4009-B17C-7E0CCD431E5F}" type="pres">
      <dgm:prSet presAssocID="{43C796A5-FE1B-4F81-B3CD-9BA5346BA932}" presName="spaceRect" presStyleCnt="0"/>
      <dgm:spPr/>
    </dgm:pt>
    <dgm:pt modelId="{CFCA1B89-091F-41D5-9598-8B490DB0E51E}" type="pres">
      <dgm:prSet presAssocID="{43C796A5-FE1B-4F81-B3CD-9BA5346BA932}" presName="parTx" presStyleLbl="revTx" presStyleIdx="0" presStyleCnt="2">
        <dgm:presLayoutVars>
          <dgm:chMax val="0"/>
          <dgm:chPref val="0"/>
        </dgm:presLayoutVars>
      </dgm:prSet>
      <dgm:spPr/>
    </dgm:pt>
    <dgm:pt modelId="{A606A536-9DEB-4C5A-B9DA-D35E7201EC62}" type="pres">
      <dgm:prSet presAssocID="{76D3DBE4-05FF-42EB-99F3-39936389F56F}" presName="sibTrans" presStyleCnt="0"/>
      <dgm:spPr/>
    </dgm:pt>
    <dgm:pt modelId="{6A4460AE-CA13-49D1-883D-211C7B712209}" type="pres">
      <dgm:prSet presAssocID="{168E95BD-96E4-4F2F-89D1-D3B13E405A43}" presName="compNode" presStyleCnt="0"/>
      <dgm:spPr/>
    </dgm:pt>
    <dgm:pt modelId="{472F091D-347D-4685-9843-2C8528C098B8}" type="pres">
      <dgm:prSet presAssocID="{168E95BD-96E4-4F2F-89D1-D3B13E405A43}" presName="bgRect" presStyleLbl="bgShp" presStyleIdx="1" presStyleCnt="2"/>
      <dgm:spPr/>
    </dgm:pt>
    <dgm:pt modelId="{F3C1A68B-E44D-4533-8099-4D9FDCC4BFE5}" type="pres">
      <dgm:prSet presAssocID="{168E95BD-96E4-4F2F-89D1-D3B13E405A43}" presName="iconRect" presStyleLbl="node1" presStyleIdx="1" presStyleCnt="2"/>
      <dgm:spPr/>
    </dgm:pt>
    <dgm:pt modelId="{566B0CBF-E749-489A-B39A-E9F79D9E6C25}" type="pres">
      <dgm:prSet presAssocID="{168E95BD-96E4-4F2F-89D1-D3B13E405A43}" presName="spaceRect" presStyleCnt="0"/>
      <dgm:spPr/>
    </dgm:pt>
    <dgm:pt modelId="{2D529150-7E7E-465D-AA1C-A44AD56330CE}" type="pres">
      <dgm:prSet presAssocID="{168E95BD-96E4-4F2F-89D1-D3B13E405A43}" presName="parTx" presStyleLbl="revTx" presStyleIdx="1" presStyleCnt="2">
        <dgm:presLayoutVars>
          <dgm:chMax val="0"/>
          <dgm:chPref val="0"/>
        </dgm:presLayoutVars>
      </dgm:prSet>
      <dgm:spPr/>
    </dgm:pt>
  </dgm:ptLst>
  <dgm:cxnLst>
    <dgm:cxn modelId="{AF2E6E02-9B30-472C-949E-9930A62CD8E5}" type="presOf" srcId="{E7743AFF-7A08-4B57-975D-9BAF0D6DFAC1}" destId="{E4BDC786-110C-4E9B-8D13-D4D391C04A8F}" srcOrd="0" destOrd="0" presId="urn:microsoft.com/office/officeart/2018/2/layout/IconVerticalSolidList"/>
    <dgm:cxn modelId="{5B206C5E-1B6D-43C4-A90C-C0A937A2B354}" srcId="{E7743AFF-7A08-4B57-975D-9BAF0D6DFAC1}" destId="{168E95BD-96E4-4F2F-89D1-D3B13E405A43}" srcOrd="1" destOrd="0" parTransId="{97C039DF-2DFB-4A8A-B874-F50B171CF35D}" sibTransId="{56CF6B44-291D-4FF4-AE0C-C8C3AAC76418}"/>
    <dgm:cxn modelId="{5F70CBD0-F572-4698-87D7-A7C99CB38FAF}" type="presOf" srcId="{43C796A5-FE1B-4F81-B3CD-9BA5346BA932}" destId="{CFCA1B89-091F-41D5-9598-8B490DB0E51E}" srcOrd="0" destOrd="0" presId="urn:microsoft.com/office/officeart/2018/2/layout/IconVerticalSolidList"/>
    <dgm:cxn modelId="{956A64D8-CF42-4339-AC66-B4001AD61D35}" srcId="{E7743AFF-7A08-4B57-975D-9BAF0D6DFAC1}" destId="{43C796A5-FE1B-4F81-B3CD-9BA5346BA932}" srcOrd="0" destOrd="0" parTransId="{6BD85203-96B1-455B-8AE1-B4AF4ADE8CD0}" sibTransId="{76D3DBE4-05FF-42EB-99F3-39936389F56F}"/>
    <dgm:cxn modelId="{25FAC3D9-9613-425F-B167-E065ABEBAEA3}" type="presOf" srcId="{168E95BD-96E4-4F2F-89D1-D3B13E405A43}" destId="{2D529150-7E7E-465D-AA1C-A44AD56330CE}" srcOrd="0" destOrd="0" presId="urn:microsoft.com/office/officeart/2018/2/layout/IconVerticalSolidList"/>
    <dgm:cxn modelId="{D919C76A-A0D8-4E67-ABF3-ED8571E2A353}" type="presParOf" srcId="{E4BDC786-110C-4E9B-8D13-D4D391C04A8F}" destId="{7449C818-48C6-4842-95F8-F6FC2064ABF7}" srcOrd="0" destOrd="0" presId="urn:microsoft.com/office/officeart/2018/2/layout/IconVerticalSolidList"/>
    <dgm:cxn modelId="{C62A7EE0-05EE-4B77-B1B3-15E4D342302B}" type="presParOf" srcId="{7449C818-48C6-4842-95F8-F6FC2064ABF7}" destId="{82E3A524-6C50-4945-9D48-566192D0187B}" srcOrd="0" destOrd="0" presId="urn:microsoft.com/office/officeart/2018/2/layout/IconVerticalSolidList"/>
    <dgm:cxn modelId="{775E27E1-A3C4-46A0-8729-4BCCE3541399}" type="presParOf" srcId="{7449C818-48C6-4842-95F8-F6FC2064ABF7}" destId="{FA55840C-DC49-45F7-A74F-A4C984C0C951}" srcOrd="1" destOrd="0" presId="urn:microsoft.com/office/officeart/2018/2/layout/IconVerticalSolidList"/>
    <dgm:cxn modelId="{95CD9956-8DB9-473F-96DD-933C4A78E307}" type="presParOf" srcId="{7449C818-48C6-4842-95F8-F6FC2064ABF7}" destId="{5F4C6A93-145A-4009-B17C-7E0CCD431E5F}" srcOrd="2" destOrd="0" presId="urn:microsoft.com/office/officeart/2018/2/layout/IconVerticalSolidList"/>
    <dgm:cxn modelId="{4226F47C-2701-4821-A96C-97812007A8F2}" type="presParOf" srcId="{7449C818-48C6-4842-95F8-F6FC2064ABF7}" destId="{CFCA1B89-091F-41D5-9598-8B490DB0E51E}" srcOrd="3" destOrd="0" presId="urn:microsoft.com/office/officeart/2018/2/layout/IconVerticalSolidList"/>
    <dgm:cxn modelId="{DFECA7BC-761E-4A8B-8313-8FCCBAD57910}" type="presParOf" srcId="{E4BDC786-110C-4E9B-8D13-D4D391C04A8F}" destId="{A606A536-9DEB-4C5A-B9DA-D35E7201EC62}" srcOrd="1" destOrd="0" presId="urn:microsoft.com/office/officeart/2018/2/layout/IconVerticalSolidList"/>
    <dgm:cxn modelId="{D02C7356-86DA-4E03-8924-C30F8AF5DE97}" type="presParOf" srcId="{E4BDC786-110C-4E9B-8D13-D4D391C04A8F}" destId="{6A4460AE-CA13-49D1-883D-211C7B712209}" srcOrd="2" destOrd="0" presId="urn:microsoft.com/office/officeart/2018/2/layout/IconVerticalSolidList"/>
    <dgm:cxn modelId="{0D663628-A6C7-4565-B060-D0520C07661E}" type="presParOf" srcId="{6A4460AE-CA13-49D1-883D-211C7B712209}" destId="{472F091D-347D-4685-9843-2C8528C098B8}" srcOrd="0" destOrd="0" presId="urn:microsoft.com/office/officeart/2018/2/layout/IconVerticalSolidList"/>
    <dgm:cxn modelId="{AAA47989-6CCF-424E-ADC4-BB90B6B9DA31}" type="presParOf" srcId="{6A4460AE-CA13-49D1-883D-211C7B712209}" destId="{F3C1A68B-E44D-4533-8099-4D9FDCC4BFE5}" srcOrd="1" destOrd="0" presId="urn:microsoft.com/office/officeart/2018/2/layout/IconVerticalSolidList"/>
    <dgm:cxn modelId="{A7AA9583-9047-4D81-95F2-4228F6D86EFA}" type="presParOf" srcId="{6A4460AE-CA13-49D1-883D-211C7B712209}" destId="{566B0CBF-E749-489A-B39A-E9F79D9E6C25}" srcOrd="2" destOrd="0" presId="urn:microsoft.com/office/officeart/2018/2/layout/IconVerticalSolidList"/>
    <dgm:cxn modelId="{5D87D187-449F-4139-B575-FD582121CA35}" type="presParOf" srcId="{6A4460AE-CA13-49D1-883D-211C7B712209}" destId="{2D529150-7E7E-465D-AA1C-A44AD56330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E2E767-C77D-40CC-96E1-F9A9C40B1FA6}">
      <dsp:nvSpPr>
        <dsp:cNvPr id="0" name=""/>
        <dsp:cNvSpPr/>
      </dsp:nvSpPr>
      <dsp:spPr>
        <a:xfrm>
          <a:off x="0" y="737694"/>
          <a:ext cx="10515600" cy="13618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DF2D8C-E3BA-4C54-8915-56FFD988F458}">
      <dsp:nvSpPr>
        <dsp:cNvPr id="0" name=""/>
        <dsp:cNvSpPr/>
      </dsp:nvSpPr>
      <dsp:spPr>
        <a:xfrm>
          <a:off x="411973" y="1044120"/>
          <a:ext cx="749043" cy="749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E0D09A-714C-437E-99DB-BCC15054282D}">
      <dsp:nvSpPr>
        <dsp:cNvPr id="0" name=""/>
        <dsp:cNvSpPr/>
      </dsp:nvSpPr>
      <dsp:spPr>
        <a:xfrm>
          <a:off x="1572990" y="737694"/>
          <a:ext cx="8942609" cy="1361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134" tIns="144134" rIns="144134" bIns="144134" numCol="1" spcCol="1270" anchor="ctr" anchorCtr="0">
          <a:noAutofit/>
        </a:bodyPr>
        <a:lstStyle/>
        <a:p>
          <a:pPr marL="0" lvl="0" indent="0" algn="l" defTabSz="1111250">
            <a:lnSpc>
              <a:spcPct val="100000"/>
            </a:lnSpc>
            <a:spcBef>
              <a:spcPct val="0"/>
            </a:spcBef>
            <a:spcAft>
              <a:spcPct val="35000"/>
            </a:spcAft>
            <a:buNone/>
          </a:pPr>
          <a:r>
            <a:rPr lang="it-IT" sz="2500" kern="1200" dirty="0">
              <a:solidFill>
                <a:schemeClr val="bg1"/>
              </a:solidFill>
            </a:rPr>
            <a:t>1. </a:t>
          </a:r>
          <a:r>
            <a:rPr lang="it-IT" sz="2500" kern="1200" dirty="0" err="1">
              <a:solidFill>
                <a:schemeClr val="bg1"/>
              </a:solidFill>
            </a:rPr>
            <a:t>Uniqueness</a:t>
          </a:r>
          <a:r>
            <a:rPr lang="it-IT" sz="2500" kern="1200" dirty="0">
              <a:solidFill>
                <a:schemeClr val="bg1"/>
              </a:solidFill>
            </a:rPr>
            <a:t>: </a:t>
          </a:r>
          <a:r>
            <a:rPr lang="it-IT" sz="2500" kern="1200" dirty="0" err="1">
              <a:solidFill>
                <a:schemeClr val="bg1"/>
              </a:solidFill>
            </a:rPr>
            <a:t>if</a:t>
          </a:r>
          <a:r>
            <a:rPr lang="it-IT" sz="2500" kern="1200" dirty="0">
              <a:solidFill>
                <a:schemeClr val="bg1"/>
              </a:solidFill>
            </a:rPr>
            <a:t> </a:t>
          </a:r>
          <a:r>
            <a:rPr lang="it-IT" sz="2500" kern="1200" dirty="0" err="1">
              <a:solidFill>
                <a:schemeClr val="bg1"/>
              </a:solidFill>
            </a:rPr>
            <a:t>something</a:t>
          </a:r>
          <a:r>
            <a:rPr lang="it-IT" sz="2500" kern="1200" dirty="0">
              <a:solidFill>
                <a:schemeClr val="bg1"/>
              </a:solidFill>
            </a:rPr>
            <a:t> </a:t>
          </a:r>
          <a:r>
            <a:rPr lang="it-IT" sz="2500" kern="1200" dirty="0" err="1">
              <a:solidFill>
                <a:schemeClr val="bg1"/>
              </a:solidFill>
            </a:rPr>
            <a:t>is</a:t>
          </a:r>
          <a:r>
            <a:rPr lang="it-IT" sz="2500" kern="1200" dirty="0">
              <a:solidFill>
                <a:schemeClr val="bg1"/>
              </a:solidFill>
            </a:rPr>
            <a:t> food </a:t>
          </a:r>
          <a:r>
            <a:rPr lang="it-IT" sz="2500" kern="1200" dirty="0" err="1">
              <a:solidFill>
                <a:schemeClr val="bg1"/>
              </a:solidFill>
            </a:rPr>
            <a:t>waste</a:t>
          </a:r>
          <a:r>
            <a:rPr lang="it-IT" sz="2500" kern="1200" dirty="0">
              <a:solidFill>
                <a:schemeClr val="bg1"/>
              </a:solidFill>
            </a:rPr>
            <a:t>, </a:t>
          </a:r>
          <a:r>
            <a:rPr lang="it-IT" sz="2500" kern="1200" dirty="0" err="1">
              <a:solidFill>
                <a:schemeClr val="bg1"/>
              </a:solidFill>
            </a:rPr>
            <a:t>then</a:t>
          </a:r>
          <a:r>
            <a:rPr lang="it-IT" sz="2500" kern="1200" dirty="0">
              <a:solidFill>
                <a:schemeClr val="bg1"/>
              </a:solidFill>
            </a:rPr>
            <a:t> </a:t>
          </a:r>
          <a:r>
            <a:rPr lang="it-IT" sz="2500" kern="1200" dirty="0" err="1">
              <a:solidFill>
                <a:schemeClr val="bg1"/>
              </a:solidFill>
            </a:rPr>
            <a:t>it</a:t>
          </a:r>
          <a:r>
            <a:rPr lang="it-IT" sz="2500" kern="1200" dirty="0">
              <a:solidFill>
                <a:schemeClr val="bg1"/>
              </a:solidFill>
            </a:rPr>
            <a:t> </a:t>
          </a:r>
          <a:r>
            <a:rPr lang="it-IT" sz="2500" kern="1200" dirty="0" err="1">
              <a:solidFill>
                <a:schemeClr val="bg1"/>
              </a:solidFill>
            </a:rPr>
            <a:t>cannot</a:t>
          </a:r>
          <a:r>
            <a:rPr lang="it-IT" sz="2500" kern="1200" dirty="0">
              <a:solidFill>
                <a:schemeClr val="bg1"/>
              </a:solidFill>
            </a:rPr>
            <a:t> be food, </a:t>
          </a:r>
          <a:r>
            <a:rPr lang="it-IT" sz="2500" kern="1200" dirty="0" err="1">
              <a:solidFill>
                <a:schemeClr val="bg1"/>
              </a:solidFill>
            </a:rPr>
            <a:t>as</a:t>
          </a:r>
          <a:r>
            <a:rPr lang="it-IT" sz="2500" kern="1200" dirty="0">
              <a:solidFill>
                <a:schemeClr val="bg1"/>
              </a:solidFill>
            </a:rPr>
            <a:t> food </a:t>
          </a:r>
          <a:r>
            <a:rPr lang="it-IT" sz="2500" kern="1200" dirty="0" err="1">
              <a:solidFill>
                <a:schemeClr val="bg1"/>
              </a:solidFill>
            </a:rPr>
            <a:t>waste</a:t>
          </a:r>
          <a:r>
            <a:rPr lang="it-IT" sz="2500" kern="1200" dirty="0">
              <a:solidFill>
                <a:schemeClr val="bg1"/>
              </a:solidFill>
            </a:rPr>
            <a:t> </a:t>
          </a:r>
          <a:r>
            <a:rPr lang="it-IT" sz="2500" kern="1200" dirty="0" err="1">
              <a:solidFill>
                <a:schemeClr val="bg1"/>
              </a:solidFill>
            </a:rPr>
            <a:t>is</a:t>
          </a:r>
          <a:r>
            <a:rPr lang="it-IT" sz="2500" kern="1200" dirty="0">
              <a:solidFill>
                <a:schemeClr val="bg1"/>
              </a:solidFill>
            </a:rPr>
            <a:t> no </a:t>
          </a:r>
          <a:r>
            <a:rPr lang="it-IT" sz="2500" kern="1200" dirty="0" err="1">
              <a:solidFill>
                <a:schemeClr val="bg1"/>
              </a:solidFill>
            </a:rPr>
            <a:t>longer</a:t>
          </a:r>
          <a:r>
            <a:rPr lang="it-IT" sz="2500" kern="1200" dirty="0">
              <a:solidFill>
                <a:schemeClr val="bg1"/>
              </a:solidFill>
            </a:rPr>
            <a:t> </a:t>
          </a:r>
          <a:r>
            <a:rPr lang="it-IT" sz="2500" kern="1200" dirty="0" err="1">
              <a:solidFill>
                <a:schemeClr val="bg1"/>
              </a:solidFill>
            </a:rPr>
            <a:t>edible</a:t>
          </a:r>
          <a:r>
            <a:rPr lang="it-IT" sz="2500" kern="1200" dirty="0">
              <a:solidFill>
                <a:schemeClr val="bg1"/>
              </a:solidFill>
            </a:rPr>
            <a:t> or </a:t>
          </a:r>
          <a:r>
            <a:rPr lang="it-IT" sz="2500" kern="1200" dirty="0" err="1">
              <a:solidFill>
                <a:schemeClr val="bg1"/>
              </a:solidFill>
            </a:rPr>
            <a:t>may</a:t>
          </a:r>
          <a:r>
            <a:rPr lang="it-IT" sz="2500" kern="1200" dirty="0">
              <a:solidFill>
                <a:schemeClr val="bg1"/>
              </a:solidFill>
            </a:rPr>
            <a:t> be </a:t>
          </a:r>
          <a:r>
            <a:rPr lang="it-IT" sz="2500" kern="1200" dirty="0" err="1">
              <a:solidFill>
                <a:schemeClr val="bg1"/>
              </a:solidFill>
            </a:rPr>
            <a:t>harmful</a:t>
          </a:r>
          <a:r>
            <a:rPr lang="it-IT" sz="2500" kern="1200" dirty="0">
              <a:solidFill>
                <a:schemeClr val="bg1"/>
              </a:solidFill>
            </a:rPr>
            <a:t> to health</a:t>
          </a:r>
          <a:endParaRPr lang="en-US" sz="2500" kern="1200" dirty="0">
            <a:solidFill>
              <a:schemeClr val="bg1"/>
            </a:solidFill>
          </a:endParaRPr>
        </a:p>
      </dsp:txBody>
      <dsp:txXfrm>
        <a:off x="1572990" y="737694"/>
        <a:ext cx="8942609" cy="1361896"/>
      </dsp:txXfrm>
    </dsp:sp>
    <dsp:sp modelId="{7BD11CB1-13D2-4166-AB81-E7D029701AC6}">
      <dsp:nvSpPr>
        <dsp:cNvPr id="0" name=""/>
        <dsp:cNvSpPr/>
      </dsp:nvSpPr>
      <dsp:spPr>
        <a:xfrm>
          <a:off x="0" y="2440065"/>
          <a:ext cx="10515600" cy="13618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C03C5B-577F-47D3-8FFA-8E52901FF96C}">
      <dsp:nvSpPr>
        <dsp:cNvPr id="0" name=""/>
        <dsp:cNvSpPr/>
      </dsp:nvSpPr>
      <dsp:spPr>
        <a:xfrm>
          <a:off x="411973" y="2746491"/>
          <a:ext cx="749043" cy="749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EBFF6D-B6A5-4969-9C74-56427D8A8122}">
      <dsp:nvSpPr>
        <dsp:cNvPr id="0" name=""/>
        <dsp:cNvSpPr/>
      </dsp:nvSpPr>
      <dsp:spPr>
        <a:xfrm>
          <a:off x="1572990" y="2440065"/>
          <a:ext cx="8942609" cy="13618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134" tIns="144134" rIns="144134" bIns="144134" numCol="1" spcCol="1270" anchor="ctr" anchorCtr="0">
          <a:noAutofit/>
        </a:bodyPr>
        <a:lstStyle/>
        <a:p>
          <a:pPr marL="0" lvl="0" indent="0" algn="l" defTabSz="1111250">
            <a:lnSpc>
              <a:spcPct val="100000"/>
            </a:lnSpc>
            <a:spcBef>
              <a:spcPct val="0"/>
            </a:spcBef>
            <a:spcAft>
              <a:spcPct val="35000"/>
            </a:spcAft>
            <a:buNone/>
          </a:pPr>
          <a:r>
            <a:rPr lang="it-IT" sz="2500" kern="1200" dirty="0">
              <a:solidFill>
                <a:schemeClr val="bg1"/>
              </a:solidFill>
            </a:rPr>
            <a:t>2. </a:t>
          </a:r>
          <a:r>
            <a:rPr lang="it-IT" sz="2500" kern="1200" dirty="0" err="1">
              <a:solidFill>
                <a:schemeClr val="bg1"/>
              </a:solidFill>
            </a:rPr>
            <a:t>Irreversibility</a:t>
          </a:r>
          <a:r>
            <a:rPr lang="it-IT" sz="2500" kern="1200" dirty="0">
              <a:solidFill>
                <a:schemeClr val="bg1"/>
              </a:solidFill>
            </a:rPr>
            <a:t>: food </a:t>
          </a:r>
          <a:r>
            <a:rPr lang="it-IT" sz="2500" kern="1200" dirty="0" err="1">
              <a:solidFill>
                <a:schemeClr val="bg1"/>
              </a:solidFill>
            </a:rPr>
            <a:t>that</a:t>
          </a:r>
          <a:r>
            <a:rPr lang="it-IT" sz="2500" kern="1200" dirty="0">
              <a:solidFill>
                <a:schemeClr val="bg1"/>
              </a:solidFill>
            </a:rPr>
            <a:t> </a:t>
          </a:r>
          <a:r>
            <a:rPr lang="it-IT" sz="2500" kern="1200" dirty="0" err="1">
              <a:solidFill>
                <a:schemeClr val="bg1"/>
              </a:solidFill>
            </a:rPr>
            <a:t>has</a:t>
          </a:r>
          <a:r>
            <a:rPr lang="it-IT" sz="2500" kern="1200" dirty="0">
              <a:solidFill>
                <a:schemeClr val="bg1"/>
              </a:solidFill>
            </a:rPr>
            <a:t> </a:t>
          </a:r>
          <a:r>
            <a:rPr lang="it-IT" sz="2500" kern="1200" dirty="0" err="1">
              <a:solidFill>
                <a:schemeClr val="bg1"/>
              </a:solidFill>
            </a:rPr>
            <a:t>become</a:t>
          </a:r>
          <a:r>
            <a:rPr lang="it-IT" sz="2500" kern="1200" dirty="0">
              <a:solidFill>
                <a:schemeClr val="bg1"/>
              </a:solidFill>
            </a:rPr>
            <a:t> </a:t>
          </a:r>
          <a:r>
            <a:rPr lang="it-IT" sz="2500" kern="1200" dirty="0" err="1">
              <a:solidFill>
                <a:schemeClr val="bg1"/>
              </a:solidFill>
            </a:rPr>
            <a:t>waste</a:t>
          </a:r>
          <a:r>
            <a:rPr lang="it-IT" sz="2500" kern="1200" dirty="0">
              <a:solidFill>
                <a:schemeClr val="bg1"/>
              </a:solidFill>
            </a:rPr>
            <a:t> </a:t>
          </a:r>
          <a:r>
            <a:rPr lang="it-IT" sz="2500" kern="1200" dirty="0" err="1">
              <a:solidFill>
                <a:schemeClr val="bg1"/>
              </a:solidFill>
            </a:rPr>
            <a:t>cannot</a:t>
          </a:r>
          <a:r>
            <a:rPr lang="it-IT" sz="2500" kern="1200" dirty="0">
              <a:solidFill>
                <a:schemeClr val="bg1"/>
              </a:solidFill>
            </a:rPr>
            <a:t> be </a:t>
          </a:r>
          <a:r>
            <a:rPr lang="it-IT" sz="2500" kern="1200" dirty="0" err="1">
              <a:solidFill>
                <a:schemeClr val="bg1"/>
              </a:solidFill>
            </a:rPr>
            <a:t>turned</a:t>
          </a:r>
          <a:r>
            <a:rPr lang="it-IT" sz="2500" kern="1200" dirty="0">
              <a:solidFill>
                <a:schemeClr val="bg1"/>
              </a:solidFill>
            </a:rPr>
            <a:t> </a:t>
          </a:r>
          <a:r>
            <a:rPr lang="it-IT" sz="2500" kern="1200" dirty="0" err="1">
              <a:solidFill>
                <a:schemeClr val="bg1"/>
              </a:solidFill>
            </a:rPr>
            <a:t>into</a:t>
          </a:r>
          <a:r>
            <a:rPr lang="it-IT" sz="2500" kern="1200" dirty="0">
              <a:solidFill>
                <a:schemeClr val="bg1"/>
              </a:solidFill>
            </a:rPr>
            <a:t> food </a:t>
          </a:r>
          <a:r>
            <a:rPr lang="it-IT" sz="2500" kern="1200" dirty="0" err="1">
              <a:solidFill>
                <a:schemeClr val="bg1"/>
              </a:solidFill>
            </a:rPr>
            <a:t>again</a:t>
          </a:r>
          <a:endParaRPr lang="en-US" sz="2500" kern="1200" dirty="0">
            <a:solidFill>
              <a:schemeClr val="bg1"/>
            </a:solidFill>
          </a:endParaRPr>
        </a:p>
      </dsp:txBody>
      <dsp:txXfrm>
        <a:off x="1572990" y="2440065"/>
        <a:ext cx="8942609" cy="13618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E3A524-6C50-4945-9D48-566192D0187B}">
      <dsp:nvSpPr>
        <dsp:cNvPr id="0" name=""/>
        <dsp:cNvSpPr/>
      </dsp:nvSpPr>
      <dsp:spPr>
        <a:xfrm>
          <a:off x="0" y="728767"/>
          <a:ext cx="10515600" cy="13454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55840C-DC49-45F7-A74F-A4C984C0C951}">
      <dsp:nvSpPr>
        <dsp:cNvPr id="0" name=""/>
        <dsp:cNvSpPr/>
      </dsp:nvSpPr>
      <dsp:spPr>
        <a:xfrm>
          <a:off x="406988" y="1031486"/>
          <a:ext cx="739979" cy="7399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CA1B89-091F-41D5-9598-8B490DB0E51E}">
      <dsp:nvSpPr>
        <dsp:cNvPr id="0" name=""/>
        <dsp:cNvSpPr/>
      </dsp:nvSpPr>
      <dsp:spPr>
        <a:xfrm>
          <a:off x="1553957" y="728767"/>
          <a:ext cx="8961642" cy="134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90" tIns="142390" rIns="142390" bIns="142390" numCol="1" spcCol="1270" anchor="ctr" anchorCtr="0">
          <a:noAutofit/>
        </a:bodyPr>
        <a:lstStyle/>
        <a:p>
          <a:pPr marL="0" lvl="0" indent="0" algn="l" defTabSz="1022350">
            <a:lnSpc>
              <a:spcPct val="100000"/>
            </a:lnSpc>
            <a:spcBef>
              <a:spcPct val="0"/>
            </a:spcBef>
            <a:spcAft>
              <a:spcPct val="35000"/>
            </a:spcAft>
            <a:buNone/>
          </a:pPr>
          <a:r>
            <a:rPr lang="en-GB" sz="2300" i="1" kern="1200" dirty="0">
              <a:solidFill>
                <a:schemeClr val="bg1"/>
              </a:solidFill>
            </a:rPr>
            <a:t>“Discussions of food waste should be reframed away from the</a:t>
          </a:r>
          <a:r>
            <a:rPr lang="en-GB" sz="2300" kern="1200" dirty="0">
              <a:solidFill>
                <a:schemeClr val="bg1"/>
              </a:solidFill>
            </a:rPr>
            <a:t> </a:t>
          </a:r>
          <a:r>
            <a:rPr lang="en-GB" sz="2300" i="1" kern="1200" dirty="0">
              <a:solidFill>
                <a:schemeClr val="bg1"/>
              </a:solidFill>
            </a:rPr>
            <a:t>concept of ‘waste.’ […] Referring instead to ‘wasted food’.”</a:t>
          </a:r>
          <a:endParaRPr lang="en-US" sz="2300" kern="1200" dirty="0">
            <a:solidFill>
              <a:schemeClr val="bg1"/>
            </a:solidFill>
          </a:endParaRPr>
        </a:p>
      </dsp:txBody>
      <dsp:txXfrm>
        <a:off x="1553957" y="728767"/>
        <a:ext cx="8961642" cy="1345417"/>
      </dsp:txXfrm>
    </dsp:sp>
    <dsp:sp modelId="{472F091D-347D-4685-9843-2C8528C098B8}">
      <dsp:nvSpPr>
        <dsp:cNvPr id="0" name=""/>
        <dsp:cNvSpPr/>
      </dsp:nvSpPr>
      <dsp:spPr>
        <a:xfrm>
          <a:off x="0" y="2410540"/>
          <a:ext cx="10515600" cy="13454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C1A68B-E44D-4533-8099-4D9FDCC4BFE5}">
      <dsp:nvSpPr>
        <dsp:cNvPr id="0" name=""/>
        <dsp:cNvSpPr/>
      </dsp:nvSpPr>
      <dsp:spPr>
        <a:xfrm>
          <a:off x="406988" y="2713259"/>
          <a:ext cx="739979" cy="7399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529150-7E7E-465D-AA1C-A44AD56330CE}">
      <dsp:nvSpPr>
        <dsp:cNvPr id="0" name=""/>
        <dsp:cNvSpPr/>
      </dsp:nvSpPr>
      <dsp:spPr>
        <a:xfrm>
          <a:off x="1553957" y="2410540"/>
          <a:ext cx="8961642" cy="134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90" tIns="142390" rIns="142390" bIns="142390" numCol="1" spcCol="1270" anchor="ctr" anchorCtr="0">
          <a:noAutofit/>
        </a:bodyPr>
        <a:lstStyle/>
        <a:p>
          <a:pPr marL="0" lvl="0" indent="0" algn="l" defTabSz="933450">
            <a:lnSpc>
              <a:spcPct val="100000"/>
            </a:lnSpc>
            <a:spcBef>
              <a:spcPct val="0"/>
            </a:spcBef>
            <a:spcAft>
              <a:spcPct val="35000"/>
            </a:spcAft>
            <a:buNone/>
          </a:pPr>
          <a:r>
            <a:rPr lang="en-GB" sz="2100" kern="1200" dirty="0">
              <a:solidFill>
                <a:schemeClr val="bg1"/>
              </a:solidFill>
            </a:rPr>
            <a:t>=&gt; Wasted’ stands for a property. But what kind of property? We do not typically </a:t>
          </a:r>
          <a:r>
            <a:rPr lang="en-GB" sz="2100" i="1" kern="1200" dirty="0">
              <a:solidFill>
                <a:schemeClr val="bg1"/>
              </a:solidFill>
            </a:rPr>
            <a:t>perceive </a:t>
          </a:r>
          <a:r>
            <a:rPr lang="en-GB" sz="2100" kern="1200" dirty="0" err="1">
              <a:solidFill>
                <a:schemeClr val="bg1"/>
              </a:solidFill>
            </a:rPr>
            <a:t>wastedness</a:t>
          </a:r>
          <a:r>
            <a:rPr lang="en-GB" sz="2100" kern="1200" dirty="0">
              <a:solidFill>
                <a:schemeClr val="bg1"/>
              </a:solidFill>
            </a:rPr>
            <a:t>—we perceive, for example, food being rotten, which is not equivalent to </a:t>
          </a:r>
          <a:r>
            <a:rPr lang="en-GB" sz="2100" kern="1200" dirty="0" err="1">
              <a:solidFill>
                <a:schemeClr val="bg1"/>
              </a:solidFill>
            </a:rPr>
            <a:t>wastedness</a:t>
          </a:r>
          <a:r>
            <a:rPr lang="en-GB" sz="2100" kern="1200" dirty="0"/>
            <a:t>.</a:t>
          </a:r>
          <a:endParaRPr lang="en-US" sz="2100" kern="1200" dirty="0"/>
        </a:p>
      </dsp:txBody>
      <dsp:txXfrm>
        <a:off x="1553957" y="2410540"/>
        <a:ext cx="8961642" cy="134541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9F4DEB-724B-FC45-9750-B6EF56A6785D}" type="datetimeFigureOut">
              <a:rPr lang="en-US" smtClean="0"/>
              <a:t>11/11/25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178AEE-920D-4942-BA63-9CF8549C0F80}" type="slidenum">
              <a:rPr lang="en-US" smtClean="0"/>
              <a:t>‹#›</a:t>
            </a:fld>
            <a:endParaRPr lang="en-US"/>
          </a:p>
        </p:txBody>
      </p:sp>
    </p:spTree>
    <p:extLst>
      <p:ext uri="{BB962C8B-B14F-4D97-AF65-F5344CB8AC3E}">
        <p14:creationId xmlns:p14="http://schemas.microsoft.com/office/powerpoint/2010/main" val="1973156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Fare clic per modificare stile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Fare clic per modificare lo stile del sottotitolo dello schema</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166226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Content Placeholder 2"/>
          <p:cNvSpPr>
            <a:spLocks noGrp="1"/>
          </p:cNvSpPr>
          <p:nvPr>
            <p:ph idx="1"/>
          </p:nvPr>
        </p:nvSpPr>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682194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Fare clic per modificare stile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Fare clic per modificare gli stili del testo dello schema</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231770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Content Placeholder 2"/>
          <p:cNvSpPr>
            <a:spLocks noGrp="1"/>
          </p:cNvSpPr>
          <p:nvPr>
            <p:ph sz="half" idx="1"/>
          </p:nvPr>
        </p:nvSpPr>
        <p:spPr>
          <a:xfrm>
            <a:off x="838200" y="1825625"/>
            <a:ext cx="5181600" cy="4351338"/>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Content Placeholder 3"/>
          <p:cNvSpPr>
            <a:spLocks noGrp="1"/>
          </p:cNvSpPr>
          <p:nvPr>
            <p:ph sz="half" idx="2"/>
          </p:nvPr>
        </p:nvSpPr>
        <p:spPr>
          <a:xfrm>
            <a:off x="6172200" y="1825625"/>
            <a:ext cx="5181600" cy="4351338"/>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5" name="Date Placeholder 4"/>
          <p:cNvSpPr>
            <a:spLocks noGrp="1"/>
          </p:cNvSpPr>
          <p:nvPr>
            <p:ph type="dt" sz="half" idx="10"/>
          </p:nvPr>
        </p:nvSpPr>
        <p:spPr/>
        <p:txBody>
          <a:bodyPr/>
          <a:lstStyle/>
          <a:p>
            <a:fld id="{388DD56F-F908-5346-A449-9608B06FDD27}" type="datetimeFigureOut">
              <a:rPr lang="it-IT" smtClean="0"/>
              <a:t>11/11/25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974454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Fare clic per modificare stile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Fare clic per modificare gli stili del testo dello schema</a:t>
            </a:r>
          </a:p>
        </p:txBody>
      </p:sp>
      <p:sp>
        <p:nvSpPr>
          <p:cNvPr id="4" name="Content Placeholder 3"/>
          <p:cNvSpPr>
            <a:spLocks noGrp="1"/>
          </p:cNvSpPr>
          <p:nvPr>
            <p:ph sz="half" idx="2"/>
          </p:nvPr>
        </p:nvSpPr>
        <p:spPr>
          <a:xfrm>
            <a:off x="839788" y="2505075"/>
            <a:ext cx="5157787" cy="3684588"/>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Fare clic per modificare gli stili del testo dello schema</a:t>
            </a:r>
          </a:p>
        </p:txBody>
      </p:sp>
      <p:sp>
        <p:nvSpPr>
          <p:cNvPr id="6" name="Content Placeholder 5"/>
          <p:cNvSpPr>
            <a:spLocks noGrp="1"/>
          </p:cNvSpPr>
          <p:nvPr>
            <p:ph sz="quarter" idx="4"/>
          </p:nvPr>
        </p:nvSpPr>
        <p:spPr>
          <a:xfrm>
            <a:off x="6172200" y="2505075"/>
            <a:ext cx="5183188" cy="3684588"/>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7" name="Date Placeholder 6"/>
          <p:cNvSpPr>
            <a:spLocks noGrp="1"/>
          </p:cNvSpPr>
          <p:nvPr>
            <p:ph type="dt" sz="half" idx="10"/>
          </p:nvPr>
        </p:nvSpPr>
        <p:spPr/>
        <p:txBody>
          <a:bodyPr/>
          <a:lstStyle/>
          <a:p>
            <a:fld id="{388DD56F-F908-5346-A449-9608B06FDD27}" type="datetimeFigureOut">
              <a:rPr lang="it-IT" smtClean="0"/>
              <a:t>11/11/25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73140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Date Placeholder 2"/>
          <p:cNvSpPr>
            <a:spLocks noGrp="1"/>
          </p:cNvSpPr>
          <p:nvPr>
            <p:ph type="dt" sz="half" idx="10"/>
          </p:nvPr>
        </p:nvSpPr>
        <p:spPr/>
        <p:txBody>
          <a:bodyPr/>
          <a:lstStyle/>
          <a:p>
            <a:fld id="{388DD56F-F908-5346-A449-9608B06FDD27}" type="datetimeFigureOut">
              <a:rPr lang="it-IT" smtClean="0"/>
              <a:t>11/11/25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248080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DD56F-F908-5346-A449-9608B06FDD27}" type="datetimeFigureOut">
              <a:rPr lang="it-IT" smtClean="0"/>
              <a:t>11/11/25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2021595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Fare clic per modificare stile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Fare clic per modificare gli stili del testo dello schema</a:t>
            </a:r>
          </a:p>
        </p:txBody>
      </p:sp>
      <p:sp>
        <p:nvSpPr>
          <p:cNvPr id="5" name="Date Placeholder 4"/>
          <p:cNvSpPr>
            <a:spLocks noGrp="1"/>
          </p:cNvSpPr>
          <p:nvPr>
            <p:ph type="dt" sz="half" idx="10"/>
          </p:nvPr>
        </p:nvSpPr>
        <p:spPr/>
        <p:txBody>
          <a:bodyPr/>
          <a:lstStyle/>
          <a:p>
            <a:fld id="{388DD56F-F908-5346-A449-9608B06FDD27}" type="datetimeFigureOut">
              <a:rPr lang="it-IT" smtClean="0"/>
              <a:t>11/11/25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610150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Fare clic per modificare stile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Trascinare l'immagine su un segnaposto o fare clic sull'icona per aggiungerla</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Fare clic per modificare gli stili del testo dello schema</a:t>
            </a:r>
          </a:p>
        </p:txBody>
      </p:sp>
      <p:sp>
        <p:nvSpPr>
          <p:cNvPr id="5" name="Date Placeholder 4"/>
          <p:cNvSpPr>
            <a:spLocks noGrp="1"/>
          </p:cNvSpPr>
          <p:nvPr>
            <p:ph type="dt" sz="half" idx="10"/>
          </p:nvPr>
        </p:nvSpPr>
        <p:spPr/>
        <p:txBody>
          <a:bodyPr/>
          <a:lstStyle/>
          <a:p>
            <a:fld id="{388DD56F-F908-5346-A449-9608B06FDD27}" type="datetimeFigureOut">
              <a:rPr lang="it-IT" smtClean="0"/>
              <a:t>11/11/25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35882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Vertical Text Placeholder 2"/>
          <p:cNvSpPr>
            <a:spLocks noGrp="1"/>
          </p:cNvSpPr>
          <p:nvPr>
            <p:ph type="body" orient="vert" idx="1"/>
          </p:nvPr>
        </p:nvSpPr>
        <p:spPr/>
        <p:txBody>
          <a:bodyPr vert="eaVert"/>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420403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Fare clic per modificare stile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297186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914400" y="2130428"/>
            <a:ext cx="10363200" cy="1470025"/>
          </a:xfrm>
        </p:spPr>
        <p:txBody>
          <a:bodyPr/>
          <a:lstStyle/>
          <a:p>
            <a:r>
              <a:rPr lang="it-IT"/>
              <a:t>Fare clic per modificare lo stile del titolo</a:t>
            </a:r>
            <a:endParaRPr lang="en-GB"/>
          </a:p>
        </p:txBody>
      </p:sp>
      <p:sp>
        <p:nvSpPr>
          <p:cNvPr id="3" name="Sottotito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it-IT"/>
              <a:t>Fare clic per modificare lo stile del sottotitolo dello schema</a:t>
            </a:r>
            <a:endParaRPr lang="en-GB"/>
          </a:p>
        </p:txBody>
      </p:sp>
      <p:sp>
        <p:nvSpPr>
          <p:cNvPr id="4" name="Segnaposto data 3"/>
          <p:cNvSpPr>
            <a:spLocks noGrp="1"/>
          </p:cNvSpPr>
          <p:nvPr>
            <p:ph type="dt" sz="half" idx="10"/>
          </p:nvPr>
        </p:nvSpPr>
        <p:spPr/>
        <p:txBody>
          <a:bodyPr/>
          <a:lstStyle/>
          <a:p>
            <a:fld id="{1CFDF81F-F0CE-497B-A7A1-AD7A9C02B7BD}" type="datetimeFigureOut">
              <a:rPr lang="en-GB" smtClean="0"/>
              <a:t>11/11/2025</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16165352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en-GB"/>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p:cNvSpPr>
            <a:spLocks noGrp="1"/>
          </p:cNvSpPr>
          <p:nvPr>
            <p:ph type="dt" sz="half" idx="10"/>
          </p:nvPr>
        </p:nvSpPr>
        <p:spPr/>
        <p:txBody>
          <a:bodyPr/>
          <a:lstStyle/>
          <a:p>
            <a:fld id="{1CFDF81F-F0CE-497B-A7A1-AD7A9C02B7BD}" type="datetimeFigureOut">
              <a:rPr lang="en-GB" smtClean="0"/>
              <a:t>11/11/2025</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29778372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963084" y="4406901"/>
            <a:ext cx="10363200" cy="1362075"/>
          </a:xfrm>
        </p:spPr>
        <p:txBody>
          <a:bodyPr anchor="t"/>
          <a:lstStyle>
            <a:lvl1pPr algn="l">
              <a:defRPr sz="5333" b="1" cap="all"/>
            </a:lvl1pPr>
          </a:lstStyle>
          <a:p>
            <a:r>
              <a:rPr lang="it-IT"/>
              <a:t>Fare clic per modificare lo stile del titolo</a:t>
            </a:r>
            <a:endParaRPr lang="en-GB"/>
          </a:p>
        </p:txBody>
      </p:sp>
      <p:sp>
        <p:nvSpPr>
          <p:cNvPr id="3" name="Segnaposto testo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1CFDF81F-F0CE-497B-A7A1-AD7A9C02B7BD}" type="datetimeFigureOut">
              <a:rPr lang="en-GB" smtClean="0"/>
              <a:t>11/11/2025</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146417471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en-GB"/>
          </a:p>
        </p:txBody>
      </p:sp>
      <p:sp>
        <p:nvSpPr>
          <p:cNvPr id="3" name="Segnaposto contenuto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contenuto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data 4"/>
          <p:cNvSpPr>
            <a:spLocks noGrp="1"/>
          </p:cNvSpPr>
          <p:nvPr>
            <p:ph type="dt" sz="half" idx="10"/>
          </p:nvPr>
        </p:nvSpPr>
        <p:spPr/>
        <p:txBody>
          <a:bodyPr/>
          <a:lstStyle/>
          <a:p>
            <a:fld id="{1CFDF81F-F0CE-497B-A7A1-AD7A9C02B7BD}" type="datetimeFigureOut">
              <a:rPr lang="en-GB" smtClean="0"/>
              <a:t>11/11/2025</a:t>
            </a:fld>
            <a:endParaRPr lang="en-GB"/>
          </a:p>
        </p:txBody>
      </p:sp>
      <p:sp>
        <p:nvSpPr>
          <p:cNvPr id="6" name="Segnaposto piè di pagina 5"/>
          <p:cNvSpPr>
            <a:spLocks noGrp="1"/>
          </p:cNvSpPr>
          <p:nvPr>
            <p:ph type="ftr" sz="quarter" idx="11"/>
          </p:nvPr>
        </p:nvSpPr>
        <p:spPr/>
        <p:txBody>
          <a:bodyPr/>
          <a:lstStyle/>
          <a:p>
            <a:endParaRPr lang="en-GB"/>
          </a:p>
        </p:txBody>
      </p:sp>
      <p:sp>
        <p:nvSpPr>
          <p:cNvPr id="7" name="Segnaposto numero diapositiva 6"/>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212027209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lo stile del titolo</a:t>
            </a:r>
            <a:endParaRPr lang="en-GB"/>
          </a:p>
        </p:txBody>
      </p:sp>
      <p:sp>
        <p:nvSpPr>
          <p:cNvPr id="3" name="Segnaposto testo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it-IT"/>
              <a:t>Fare clic per modificare stili del testo dello schema</a:t>
            </a:r>
          </a:p>
        </p:txBody>
      </p:sp>
      <p:sp>
        <p:nvSpPr>
          <p:cNvPr id="4" name="Segnaposto contenuto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testo 4"/>
          <p:cNvSpPr>
            <a:spLocks noGrp="1"/>
          </p:cNvSpPr>
          <p:nvPr>
            <p:ph type="body" sz="quarter" idx="3"/>
          </p:nvPr>
        </p:nvSpPr>
        <p:spPr>
          <a:xfrm>
            <a:off x="6193372"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it-IT"/>
              <a:t>Fare clic per modificare stili del testo dello schema</a:t>
            </a:r>
          </a:p>
        </p:txBody>
      </p:sp>
      <p:sp>
        <p:nvSpPr>
          <p:cNvPr id="6" name="Segnaposto contenuto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7" name="Segnaposto data 6"/>
          <p:cNvSpPr>
            <a:spLocks noGrp="1"/>
          </p:cNvSpPr>
          <p:nvPr>
            <p:ph type="dt" sz="half" idx="10"/>
          </p:nvPr>
        </p:nvSpPr>
        <p:spPr/>
        <p:txBody>
          <a:bodyPr/>
          <a:lstStyle/>
          <a:p>
            <a:fld id="{1CFDF81F-F0CE-497B-A7A1-AD7A9C02B7BD}" type="datetimeFigureOut">
              <a:rPr lang="en-GB" smtClean="0"/>
              <a:t>11/11/2025</a:t>
            </a:fld>
            <a:endParaRPr lang="en-GB"/>
          </a:p>
        </p:txBody>
      </p:sp>
      <p:sp>
        <p:nvSpPr>
          <p:cNvPr id="8" name="Segnaposto piè di pagina 7"/>
          <p:cNvSpPr>
            <a:spLocks noGrp="1"/>
          </p:cNvSpPr>
          <p:nvPr>
            <p:ph type="ftr" sz="quarter" idx="11"/>
          </p:nvPr>
        </p:nvSpPr>
        <p:spPr/>
        <p:txBody>
          <a:bodyPr/>
          <a:lstStyle/>
          <a:p>
            <a:endParaRPr lang="en-GB"/>
          </a:p>
        </p:txBody>
      </p:sp>
      <p:sp>
        <p:nvSpPr>
          <p:cNvPr id="9" name="Segnaposto numero diapositiva 8"/>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41553920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en-GB"/>
          </a:p>
        </p:txBody>
      </p:sp>
      <p:sp>
        <p:nvSpPr>
          <p:cNvPr id="3" name="Segnaposto data 2"/>
          <p:cNvSpPr>
            <a:spLocks noGrp="1"/>
          </p:cNvSpPr>
          <p:nvPr>
            <p:ph type="dt" sz="half" idx="10"/>
          </p:nvPr>
        </p:nvSpPr>
        <p:spPr/>
        <p:txBody>
          <a:bodyPr/>
          <a:lstStyle/>
          <a:p>
            <a:fld id="{1CFDF81F-F0CE-497B-A7A1-AD7A9C02B7BD}" type="datetimeFigureOut">
              <a:rPr lang="en-GB" smtClean="0"/>
              <a:t>11/11/2025</a:t>
            </a:fld>
            <a:endParaRPr lang="en-GB"/>
          </a:p>
        </p:txBody>
      </p:sp>
      <p:sp>
        <p:nvSpPr>
          <p:cNvPr id="4" name="Segnaposto piè di pagina 3"/>
          <p:cNvSpPr>
            <a:spLocks noGrp="1"/>
          </p:cNvSpPr>
          <p:nvPr>
            <p:ph type="ftr" sz="quarter" idx="11"/>
          </p:nvPr>
        </p:nvSpPr>
        <p:spPr/>
        <p:txBody>
          <a:bodyPr/>
          <a:lstStyle/>
          <a:p>
            <a:endParaRPr lang="en-GB"/>
          </a:p>
        </p:txBody>
      </p:sp>
      <p:sp>
        <p:nvSpPr>
          <p:cNvPr id="5" name="Segnaposto numero diapositiva 4"/>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332143487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1CFDF81F-F0CE-497B-A7A1-AD7A9C02B7BD}" type="datetimeFigureOut">
              <a:rPr lang="en-GB" smtClean="0"/>
              <a:t>11/11/2025</a:t>
            </a:fld>
            <a:endParaRPr lang="en-GB"/>
          </a:p>
        </p:txBody>
      </p:sp>
      <p:sp>
        <p:nvSpPr>
          <p:cNvPr id="3" name="Segnaposto piè di pagina 2"/>
          <p:cNvSpPr>
            <a:spLocks noGrp="1"/>
          </p:cNvSpPr>
          <p:nvPr>
            <p:ph type="ftr" sz="quarter" idx="11"/>
          </p:nvPr>
        </p:nvSpPr>
        <p:spPr/>
        <p:txBody>
          <a:bodyPr/>
          <a:lstStyle/>
          <a:p>
            <a:endParaRPr lang="en-GB"/>
          </a:p>
        </p:txBody>
      </p:sp>
      <p:sp>
        <p:nvSpPr>
          <p:cNvPr id="4" name="Segnaposto numero diapositiva 3"/>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27194149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3" y="273049"/>
            <a:ext cx="4011084" cy="1162051"/>
          </a:xfrm>
        </p:spPr>
        <p:txBody>
          <a:bodyPr anchor="b"/>
          <a:lstStyle>
            <a:lvl1pPr algn="l">
              <a:defRPr sz="2667" b="1"/>
            </a:lvl1pPr>
          </a:lstStyle>
          <a:p>
            <a:r>
              <a:rPr lang="it-IT"/>
              <a:t>Fare clic per modificare lo stile del titolo</a:t>
            </a:r>
            <a:endParaRPr lang="en-GB"/>
          </a:p>
        </p:txBody>
      </p:sp>
      <p:sp>
        <p:nvSpPr>
          <p:cNvPr id="3" name="Segnaposto contenuto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testo 3"/>
          <p:cNvSpPr>
            <a:spLocks noGrp="1"/>
          </p:cNvSpPr>
          <p:nvPr>
            <p:ph type="body" sz="half" idx="2"/>
          </p:nvPr>
        </p:nvSpPr>
        <p:spPr>
          <a:xfrm>
            <a:off x="609603"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1CFDF81F-F0CE-497B-A7A1-AD7A9C02B7BD}" type="datetimeFigureOut">
              <a:rPr lang="en-GB" smtClean="0"/>
              <a:t>11/11/2025</a:t>
            </a:fld>
            <a:endParaRPr lang="en-GB"/>
          </a:p>
        </p:txBody>
      </p:sp>
      <p:sp>
        <p:nvSpPr>
          <p:cNvPr id="6" name="Segnaposto piè di pagina 5"/>
          <p:cNvSpPr>
            <a:spLocks noGrp="1"/>
          </p:cNvSpPr>
          <p:nvPr>
            <p:ph type="ftr" sz="quarter" idx="11"/>
          </p:nvPr>
        </p:nvSpPr>
        <p:spPr/>
        <p:txBody>
          <a:bodyPr/>
          <a:lstStyle/>
          <a:p>
            <a:endParaRPr lang="en-GB"/>
          </a:p>
        </p:txBody>
      </p:sp>
      <p:sp>
        <p:nvSpPr>
          <p:cNvPr id="7" name="Segnaposto numero diapositiva 6"/>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398316389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717" y="4800601"/>
            <a:ext cx="7315200" cy="566739"/>
          </a:xfrm>
        </p:spPr>
        <p:txBody>
          <a:bodyPr anchor="b"/>
          <a:lstStyle>
            <a:lvl1pPr algn="l">
              <a:defRPr sz="2667" b="1"/>
            </a:lvl1pPr>
          </a:lstStyle>
          <a:p>
            <a:r>
              <a:rPr lang="it-IT"/>
              <a:t>Fare clic per modificare lo stile del titolo</a:t>
            </a:r>
            <a:endParaRPr lang="en-GB"/>
          </a:p>
        </p:txBody>
      </p:sp>
      <p:sp>
        <p:nvSpPr>
          <p:cNvPr id="3" name="Segnaposto immagine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GB"/>
          </a:p>
        </p:txBody>
      </p:sp>
      <p:sp>
        <p:nvSpPr>
          <p:cNvPr id="4" name="Segnaposto testo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1CFDF81F-F0CE-497B-A7A1-AD7A9C02B7BD}" type="datetimeFigureOut">
              <a:rPr lang="en-GB" smtClean="0"/>
              <a:t>11/11/2025</a:t>
            </a:fld>
            <a:endParaRPr lang="en-GB"/>
          </a:p>
        </p:txBody>
      </p:sp>
      <p:sp>
        <p:nvSpPr>
          <p:cNvPr id="6" name="Segnaposto piè di pagina 5"/>
          <p:cNvSpPr>
            <a:spLocks noGrp="1"/>
          </p:cNvSpPr>
          <p:nvPr>
            <p:ph type="ftr" sz="quarter" idx="11"/>
          </p:nvPr>
        </p:nvSpPr>
        <p:spPr/>
        <p:txBody>
          <a:bodyPr/>
          <a:lstStyle/>
          <a:p>
            <a:endParaRPr lang="en-GB"/>
          </a:p>
        </p:txBody>
      </p:sp>
      <p:sp>
        <p:nvSpPr>
          <p:cNvPr id="7" name="Segnaposto numero diapositiva 6"/>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304079692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en-GB"/>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p:cNvSpPr>
            <a:spLocks noGrp="1"/>
          </p:cNvSpPr>
          <p:nvPr>
            <p:ph type="dt" sz="half" idx="10"/>
          </p:nvPr>
        </p:nvSpPr>
        <p:spPr/>
        <p:txBody>
          <a:bodyPr/>
          <a:lstStyle/>
          <a:p>
            <a:fld id="{1CFDF81F-F0CE-497B-A7A1-AD7A9C02B7BD}" type="datetimeFigureOut">
              <a:rPr lang="en-GB" smtClean="0"/>
              <a:t>11/11/2025</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18314221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39"/>
            <a:ext cx="2743200" cy="5851525"/>
          </a:xfrm>
        </p:spPr>
        <p:txBody>
          <a:bodyPr vert="eaVert"/>
          <a:lstStyle/>
          <a:p>
            <a:r>
              <a:rPr lang="it-IT"/>
              <a:t>Fare clic per modificare lo stile del titolo</a:t>
            </a:r>
            <a:endParaRPr lang="en-GB"/>
          </a:p>
        </p:txBody>
      </p:sp>
      <p:sp>
        <p:nvSpPr>
          <p:cNvPr id="3" name="Segnaposto testo verticale 2"/>
          <p:cNvSpPr>
            <a:spLocks noGrp="1"/>
          </p:cNvSpPr>
          <p:nvPr>
            <p:ph type="body" orient="vert" idx="1"/>
          </p:nvPr>
        </p:nvSpPr>
        <p:spPr>
          <a:xfrm>
            <a:off x="609600" y="274639"/>
            <a:ext cx="8026400" cy="5851525"/>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p:cNvSpPr>
            <a:spLocks noGrp="1"/>
          </p:cNvSpPr>
          <p:nvPr>
            <p:ph type="dt" sz="half" idx="10"/>
          </p:nvPr>
        </p:nvSpPr>
        <p:spPr/>
        <p:txBody>
          <a:bodyPr/>
          <a:lstStyle/>
          <a:p>
            <a:fld id="{1CFDF81F-F0CE-497B-A7A1-AD7A9C02B7BD}" type="datetimeFigureOut">
              <a:rPr lang="en-GB" smtClean="0"/>
              <a:t>11/11/2025</a:t>
            </a:fld>
            <a:endParaRPr lang="en-GB"/>
          </a:p>
        </p:txBody>
      </p:sp>
      <p:sp>
        <p:nvSpPr>
          <p:cNvPr id="5" name="Segnaposto piè di pagina 4"/>
          <p:cNvSpPr>
            <a:spLocks noGrp="1"/>
          </p:cNvSpPr>
          <p:nvPr>
            <p:ph type="ftr" sz="quarter" idx="11"/>
          </p:nvPr>
        </p:nvSpPr>
        <p:spPr/>
        <p:txBody>
          <a:bodyPr/>
          <a:lstStyle/>
          <a:p>
            <a:endParaRPr lang="en-GB"/>
          </a:p>
        </p:txBody>
      </p:sp>
      <p:sp>
        <p:nvSpPr>
          <p:cNvPr id="6" name="Segnaposto numero diapositiva 5"/>
          <p:cNvSpPr>
            <a:spLocks noGrp="1"/>
          </p:cNvSpPr>
          <p:nvPr>
            <p:ph type="sldNum" sz="quarter" idx="12"/>
          </p:nvPr>
        </p:nvSpPr>
        <p:spPr/>
        <p:txBody>
          <a:bodyPr/>
          <a:lstStyle/>
          <a:p>
            <a:fld id="{4753317F-DB8B-4534-9451-4DFAB6B1658B}" type="slidenum">
              <a:rPr lang="en-GB" smtClean="0"/>
              <a:t>‹#›</a:t>
            </a:fld>
            <a:endParaRPr lang="en-GB"/>
          </a:p>
        </p:txBody>
      </p:sp>
    </p:spTree>
    <p:extLst>
      <p:ext uri="{BB962C8B-B14F-4D97-AF65-F5344CB8AC3E}">
        <p14:creationId xmlns:p14="http://schemas.microsoft.com/office/powerpoint/2010/main" val="189333867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Fare clic per modificare stile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Fare clic per modificare lo stile del sottotitolo dello schema</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9007480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Content Placeholder 2"/>
          <p:cNvSpPr>
            <a:spLocks noGrp="1"/>
          </p:cNvSpPr>
          <p:nvPr>
            <p:ph idx="1"/>
          </p:nvPr>
        </p:nvSpPr>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275216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Fare clic per modificare stile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Fare clic per modificare gli stili del testo dello schema</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2031807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Content Placeholder 2"/>
          <p:cNvSpPr>
            <a:spLocks noGrp="1"/>
          </p:cNvSpPr>
          <p:nvPr>
            <p:ph sz="half" idx="1"/>
          </p:nvPr>
        </p:nvSpPr>
        <p:spPr>
          <a:xfrm>
            <a:off x="838200" y="1825625"/>
            <a:ext cx="5181600" cy="4351339"/>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Content Placeholder 3"/>
          <p:cNvSpPr>
            <a:spLocks noGrp="1"/>
          </p:cNvSpPr>
          <p:nvPr>
            <p:ph sz="half" idx="2"/>
          </p:nvPr>
        </p:nvSpPr>
        <p:spPr>
          <a:xfrm>
            <a:off x="6172200" y="1825625"/>
            <a:ext cx="5181600" cy="4351339"/>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5" name="Date Placeholder 4"/>
          <p:cNvSpPr>
            <a:spLocks noGrp="1"/>
          </p:cNvSpPr>
          <p:nvPr>
            <p:ph type="dt" sz="half" idx="10"/>
          </p:nvPr>
        </p:nvSpPr>
        <p:spPr/>
        <p:txBody>
          <a:bodyPr/>
          <a:lstStyle/>
          <a:p>
            <a:fld id="{388DD56F-F908-5346-A449-9608B06FDD27}" type="datetimeFigureOut">
              <a:rPr lang="it-IT" smtClean="0"/>
              <a:t>11/11/25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0948963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Fare clic per modificare stile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Fare clic per modificare gli stili del testo dello schema</a:t>
            </a:r>
          </a:p>
        </p:txBody>
      </p:sp>
      <p:sp>
        <p:nvSpPr>
          <p:cNvPr id="4" name="Content Placeholder 3"/>
          <p:cNvSpPr>
            <a:spLocks noGrp="1"/>
          </p:cNvSpPr>
          <p:nvPr>
            <p:ph sz="half" idx="2"/>
          </p:nvPr>
        </p:nvSpPr>
        <p:spPr>
          <a:xfrm>
            <a:off x="839789" y="2505075"/>
            <a:ext cx="5157787" cy="3684588"/>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Fare clic per modificare gli stili del testo dello schema</a:t>
            </a:r>
          </a:p>
        </p:txBody>
      </p:sp>
      <p:sp>
        <p:nvSpPr>
          <p:cNvPr id="6" name="Content Placeholder 5"/>
          <p:cNvSpPr>
            <a:spLocks noGrp="1"/>
          </p:cNvSpPr>
          <p:nvPr>
            <p:ph sz="quarter" idx="4"/>
          </p:nvPr>
        </p:nvSpPr>
        <p:spPr>
          <a:xfrm>
            <a:off x="6172201" y="2505075"/>
            <a:ext cx="5183188" cy="3684588"/>
          </a:xfrm>
        </p:spPr>
        <p:txBody>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7" name="Date Placeholder 6"/>
          <p:cNvSpPr>
            <a:spLocks noGrp="1"/>
          </p:cNvSpPr>
          <p:nvPr>
            <p:ph type="dt" sz="half" idx="10"/>
          </p:nvPr>
        </p:nvSpPr>
        <p:spPr/>
        <p:txBody>
          <a:bodyPr/>
          <a:lstStyle/>
          <a:p>
            <a:fld id="{388DD56F-F908-5346-A449-9608B06FDD27}" type="datetimeFigureOut">
              <a:rPr lang="it-IT" smtClean="0"/>
              <a:t>11/11/25</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36962475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Date Placeholder 2"/>
          <p:cNvSpPr>
            <a:spLocks noGrp="1"/>
          </p:cNvSpPr>
          <p:nvPr>
            <p:ph type="dt" sz="half" idx="10"/>
          </p:nvPr>
        </p:nvSpPr>
        <p:spPr/>
        <p:txBody>
          <a:bodyPr/>
          <a:lstStyle/>
          <a:p>
            <a:fld id="{388DD56F-F908-5346-A449-9608B06FDD27}" type="datetimeFigureOut">
              <a:rPr lang="it-IT" smtClean="0"/>
              <a:t>11/11/25</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1351482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8DD56F-F908-5346-A449-9608B06FDD27}" type="datetimeFigureOut">
              <a:rPr lang="it-IT" smtClean="0"/>
              <a:t>11/11/25</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2541827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Fare clic per modificare stile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Fare clic per modificare gli stili del testo dello schema</a:t>
            </a:r>
          </a:p>
        </p:txBody>
      </p:sp>
      <p:sp>
        <p:nvSpPr>
          <p:cNvPr id="5" name="Date Placeholder 4"/>
          <p:cNvSpPr>
            <a:spLocks noGrp="1"/>
          </p:cNvSpPr>
          <p:nvPr>
            <p:ph type="dt" sz="half" idx="10"/>
          </p:nvPr>
        </p:nvSpPr>
        <p:spPr/>
        <p:txBody>
          <a:bodyPr/>
          <a:lstStyle/>
          <a:p>
            <a:fld id="{388DD56F-F908-5346-A449-9608B06FDD27}" type="datetimeFigureOut">
              <a:rPr lang="it-IT" smtClean="0"/>
              <a:t>11/11/25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42280569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Fare clic per modificare stile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Trascinare l'immagine su un segnaposto o fare clic sull'icona per aggiungerla</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Fare clic per modificare gli stili del testo dello schema</a:t>
            </a:r>
          </a:p>
        </p:txBody>
      </p:sp>
      <p:sp>
        <p:nvSpPr>
          <p:cNvPr id="5" name="Date Placeholder 4"/>
          <p:cNvSpPr>
            <a:spLocks noGrp="1"/>
          </p:cNvSpPr>
          <p:nvPr>
            <p:ph type="dt" sz="half" idx="10"/>
          </p:nvPr>
        </p:nvSpPr>
        <p:spPr/>
        <p:txBody>
          <a:bodyPr/>
          <a:lstStyle/>
          <a:p>
            <a:fld id="{388DD56F-F908-5346-A449-9608B06FDD27}" type="datetimeFigureOut">
              <a:rPr lang="it-IT" smtClean="0"/>
              <a:t>11/11/25</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18079076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Fare clic per modificare stile</a:t>
            </a:r>
          </a:p>
        </p:txBody>
      </p:sp>
      <p:sp>
        <p:nvSpPr>
          <p:cNvPr id="3" name="Vertical Text Placeholder 2"/>
          <p:cNvSpPr>
            <a:spLocks noGrp="1"/>
          </p:cNvSpPr>
          <p:nvPr>
            <p:ph type="body" orient="vert" idx="1"/>
          </p:nvPr>
        </p:nvSpPr>
        <p:spPr/>
        <p:txBody>
          <a:bodyPr vert="eaVert"/>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36073367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Fare clic per modificare stile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10"/>
          </p:nvPr>
        </p:nvSpPr>
        <p:spPr/>
        <p:txBody>
          <a:bodyPr/>
          <a:lstStyle/>
          <a:p>
            <a:fld id="{388DD56F-F908-5346-A449-9608B06FDD27}" type="datetimeFigureOut">
              <a:rPr lang="it-IT" smtClean="0"/>
              <a:t>11/11/25</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02F6FA6B-1849-004C-BB76-84C40E394155}" type="slidenum">
              <a:rPr lang="it-IT" smtClean="0"/>
              <a:t>‹#›</a:t>
            </a:fld>
            <a:endParaRPr lang="it-IT"/>
          </a:p>
        </p:txBody>
      </p:sp>
    </p:spTree>
    <p:extLst>
      <p:ext uri="{BB962C8B-B14F-4D97-AF65-F5344CB8AC3E}">
        <p14:creationId xmlns:p14="http://schemas.microsoft.com/office/powerpoint/2010/main" val="321728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microsoft.com/office/2007/relationships/hdphoto" Target="../media/hdphoto1.wdp"/></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tx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Fare clic per modificare stile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8DD56F-F908-5346-A449-9608B06FDD27}" type="datetimeFigureOut">
              <a:rPr lang="it-IT" smtClean="0"/>
              <a:t>11/11/25</a:t>
            </a:fld>
            <a:endParaRPr lang="it-IT"/>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6FA6B-1849-004C-BB76-84C40E394155}" type="slidenum">
              <a:rPr lang="it-IT" smtClean="0"/>
              <a:t>‹#›</a:t>
            </a:fld>
            <a:endParaRPr lang="it-IT"/>
          </a:p>
        </p:txBody>
      </p:sp>
    </p:spTree>
    <p:extLst>
      <p:ext uri="{BB962C8B-B14F-4D97-AF65-F5344CB8AC3E}">
        <p14:creationId xmlns:p14="http://schemas.microsoft.com/office/powerpoint/2010/main" val="6071197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1000"/>
            <a:extLst>
              <a:ext uri="{BEBA8EAE-BF5A-486C-A8C5-ECC9F3942E4B}">
                <a14:imgProps xmlns:a14="http://schemas.microsoft.com/office/drawing/2010/main">
                  <a14:imgLayer r:embed="rId14">
                    <a14:imgEffect>
                      <a14:colorTemperature colorTemp="1500"/>
                    </a14:imgEffect>
                    <a14:imgEffect>
                      <a14:saturation sat="400000"/>
                    </a14:imgEffect>
                  </a14:imgLayer>
                </a14:imgProps>
              </a:ext>
            </a:extLst>
          </a:blip>
          <a:srcRect/>
          <a:stretch>
            <a:fillRect l="-8000" r="-8000"/>
          </a:stretch>
        </a:blipFill>
        <a:effectLst/>
      </p:bgPr>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609600" y="274637"/>
            <a:ext cx="10972800" cy="1143000"/>
          </a:xfrm>
          <a:prstGeom prst="rect">
            <a:avLst/>
          </a:prstGeom>
        </p:spPr>
        <p:txBody>
          <a:bodyPr vert="horz" lIns="91440" tIns="45720" rIns="91440" bIns="45720" rtlCol="0" anchor="ctr">
            <a:normAutofit/>
          </a:bodyPr>
          <a:lstStyle/>
          <a:p>
            <a:r>
              <a:rPr lang="it-IT"/>
              <a:t>Fare clic per modificare lo stile del titolo</a:t>
            </a:r>
            <a:endParaRPr lang="en-GB"/>
          </a:p>
        </p:txBody>
      </p:sp>
      <p:sp>
        <p:nvSpPr>
          <p:cNvPr id="3" name="Segnaposto tes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CFDF81F-F0CE-497B-A7A1-AD7A9C02B7BD}" type="datetimeFigureOut">
              <a:rPr lang="en-GB" smtClean="0"/>
              <a:t>11/11/2025</a:t>
            </a:fld>
            <a:endParaRPr lang="en-GB"/>
          </a:p>
        </p:txBody>
      </p:sp>
      <p:sp>
        <p:nvSpPr>
          <p:cNvPr id="5" name="Segnaposto piè di pagina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GB"/>
          </a:p>
        </p:txBody>
      </p:sp>
      <p:sp>
        <p:nvSpPr>
          <p:cNvPr id="6" name="Segnaposto numero diapositiva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4753317F-DB8B-4534-9451-4DFAB6B1658B}" type="slidenum">
              <a:rPr lang="en-GB" smtClean="0"/>
              <a:t>‹#›</a:t>
            </a:fld>
            <a:endParaRPr lang="en-GB"/>
          </a:p>
        </p:txBody>
      </p:sp>
    </p:spTree>
    <p:extLst>
      <p:ext uri="{BB962C8B-B14F-4D97-AF65-F5344CB8AC3E}">
        <p14:creationId xmlns:p14="http://schemas.microsoft.com/office/powerpoint/2010/main" val="14082319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tx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Fare clic per modificare stile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Fare clic per modificare gli stili del testo dello schema</a:t>
            </a:r>
          </a:p>
          <a:p>
            <a:pPr lvl="1"/>
            <a:r>
              <a:rPr lang="en-US"/>
              <a:t>Secondo livello</a:t>
            </a:r>
          </a:p>
          <a:p>
            <a:pPr lvl="2"/>
            <a:r>
              <a:rPr lang="en-US"/>
              <a:t>Terzo livello</a:t>
            </a:r>
          </a:p>
          <a:p>
            <a:pPr lvl="3"/>
            <a:r>
              <a:rPr lang="en-US"/>
              <a:t>Quarto livello</a:t>
            </a:r>
          </a:p>
          <a:p>
            <a:pPr lvl="4"/>
            <a:r>
              <a:rPr lang="en-US"/>
              <a:t>Quinto livello</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8DD56F-F908-5346-A449-9608B06FDD27}" type="datetimeFigureOut">
              <a:rPr lang="it-IT" smtClean="0"/>
              <a:t>11/11/25</a:t>
            </a:fld>
            <a:endParaRPr lang="it-IT"/>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6FA6B-1849-004C-BB76-84C40E394155}" type="slidenum">
              <a:rPr lang="it-IT" smtClean="0"/>
              <a:t>‹#›</a:t>
            </a:fld>
            <a:endParaRPr lang="it-IT"/>
          </a:p>
        </p:txBody>
      </p:sp>
    </p:spTree>
    <p:extLst>
      <p:ext uri="{BB962C8B-B14F-4D97-AF65-F5344CB8AC3E}">
        <p14:creationId xmlns:p14="http://schemas.microsoft.com/office/powerpoint/2010/main" val="405525224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1.png"/><Relationship Id="rId1" Type="http://schemas.openxmlformats.org/officeDocument/2006/relationships/slideLayout" Target="../slideLayouts/slideLayout23.xml"/><Relationship Id="rId5" Type="http://schemas.openxmlformats.org/officeDocument/2006/relationships/image" Target="../media/image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olo 1"/>
          <p:cNvSpPr>
            <a:spLocks noGrp="1"/>
          </p:cNvSpPr>
          <p:nvPr>
            <p:ph type="title"/>
          </p:nvPr>
        </p:nvSpPr>
        <p:spPr>
          <a:xfrm>
            <a:off x="2040147" y="1063687"/>
            <a:ext cx="9470843" cy="865091"/>
          </a:xfrm>
        </p:spPr>
        <p:txBody>
          <a:bodyPr>
            <a:noAutofit/>
          </a:bodyPr>
          <a:lstStyle/>
          <a:p>
            <a:br>
              <a:rPr lang="en-GB" sz="3700" dirty="0">
                <a:latin typeface="Georgia" pitchFamily="18" charset="0"/>
                <a:ea typeface="DejaVu Sans Mono" pitchFamily="49" charset="0"/>
                <a:cs typeface="DejaVu Sans Mono" pitchFamily="49" charset="0"/>
              </a:rPr>
            </a:br>
            <a:r>
              <a:rPr lang="it-IT" sz="3700" b="1" dirty="0" err="1">
                <a:solidFill>
                  <a:srgbClr val="595959"/>
                </a:solidFill>
                <a:latin typeface="Optima" panose="02000503060000020004" pitchFamily="2" charset="0"/>
                <a:ea typeface="Gadugi" panose="020B0502040204020203" pitchFamily="34" charset="0"/>
                <a:cs typeface="Levenim MT" panose="020B0604020202020204" pitchFamily="2" charset="-79"/>
              </a:rPr>
              <a:t>Towards</a:t>
            </a:r>
            <a:r>
              <a:rPr lang="it-IT" sz="3700" b="1" dirty="0">
                <a:solidFill>
                  <a:srgbClr val="595959"/>
                </a:solidFill>
                <a:latin typeface="Optima" panose="02000503060000020004" pitchFamily="2" charset="0"/>
                <a:ea typeface="Gadugi" panose="020B0502040204020203" pitchFamily="34" charset="0"/>
                <a:cs typeface="Levenim MT" panose="020B0604020202020204" pitchFamily="2" charset="-79"/>
              </a:rPr>
              <a:t> a </a:t>
            </a:r>
            <a:r>
              <a:rPr lang="it-IT" sz="3700" b="1" dirty="0" err="1">
                <a:solidFill>
                  <a:srgbClr val="595959"/>
                </a:solidFill>
                <a:latin typeface="Optima" panose="02000503060000020004" pitchFamily="2" charset="0"/>
                <a:ea typeface="Gadugi" panose="020B0502040204020203" pitchFamily="34" charset="0"/>
                <a:cs typeface="Levenim MT" panose="020B0604020202020204" pitchFamily="2" charset="-79"/>
              </a:rPr>
              <a:t>Logic</a:t>
            </a:r>
            <a:r>
              <a:rPr lang="it-IT" sz="3700" b="1" dirty="0">
                <a:solidFill>
                  <a:srgbClr val="595959"/>
                </a:solidFill>
                <a:latin typeface="Optima" panose="02000503060000020004" pitchFamily="2" charset="0"/>
                <a:ea typeface="Gadugi" panose="020B0502040204020203" pitchFamily="34" charset="0"/>
                <a:cs typeface="Levenim MT" panose="020B0604020202020204" pitchFamily="2" charset="-79"/>
              </a:rPr>
              <a:t> of «Food Waste»</a:t>
            </a:r>
            <a:endParaRPr lang="en-GB" sz="3700" dirty="0">
              <a:latin typeface="Bahnschrift SemiLight" pitchFamily="34" charset="0"/>
            </a:endParaRPr>
          </a:p>
        </p:txBody>
      </p:sp>
      <p:sp>
        <p:nvSpPr>
          <p:cNvPr id="5" name="CasellaDiTesto 4"/>
          <p:cNvSpPr txBox="1"/>
          <p:nvPr/>
        </p:nvSpPr>
        <p:spPr>
          <a:xfrm>
            <a:off x="2040147" y="2534903"/>
            <a:ext cx="8265543" cy="1087542"/>
          </a:xfrm>
          <a:prstGeom prst="rect">
            <a:avLst/>
          </a:prstGeom>
          <a:noFill/>
        </p:spPr>
        <p:txBody>
          <a:bodyPr wrap="square" lIns="121920" tIns="60960" rIns="121920" bIns="60960" rtlCol="0" anchor="t">
            <a:spAutoFit/>
          </a:bodyPr>
          <a:lstStyle/>
          <a:p>
            <a:pPr algn="ctr" defTabSz="1219170"/>
            <a:r>
              <a:rPr lang="en-GB" sz="3067" dirty="0">
                <a:solidFill>
                  <a:prstClr val="black"/>
                </a:solidFill>
                <a:latin typeface="Baskerville Old Face"/>
                <a:ea typeface="Tahoma"/>
                <a:cs typeface="Tahoma"/>
              </a:rPr>
              <a:t>Andrea </a:t>
            </a:r>
            <a:r>
              <a:rPr lang="en-GB" sz="3067" dirty="0" err="1">
                <a:solidFill>
                  <a:prstClr val="black"/>
                </a:solidFill>
                <a:latin typeface="Baskerville Old Face"/>
                <a:ea typeface="Tahoma"/>
                <a:cs typeface="Tahoma"/>
              </a:rPr>
              <a:t>Borghini</a:t>
            </a:r>
            <a:br>
              <a:rPr lang="en-GB" sz="1600" dirty="0">
                <a:solidFill>
                  <a:prstClr val="black"/>
                </a:solidFill>
                <a:latin typeface="Baskerville Old Face"/>
                <a:ea typeface="Tahoma"/>
                <a:cs typeface="Tahoma"/>
              </a:rPr>
            </a:br>
            <a:r>
              <a:rPr lang="en-GB" sz="1600" dirty="0">
                <a:solidFill>
                  <a:prstClr val="black"/>
                </a:solidFill>
                <a:latin typeface="Baskerville Old Face"/>
                <a:ea typeface="Tahoma"/>
                <a:cs typeface="Tahoma"/>
              </a:rPr>
              <a:t>Department of Philosophy, University of Milan</a:t>
            </a:r>
          </a:p>
          <a:p>
            <a:pPr algn="ctr" defTabSz="1219170"/>
            <a:r>
              <a:rPr lang="en-GB" sz="1600" dirty="0">
                <a:solidFill>
                  <a:prstClr val="black"/>
                </a:solidFill>
                <a:latin typeface="Baskerville Old Face"/>
                <a:ea typeface="Tahoma"/>
                <a:cs typeface="Tahoma"/>
              </a:rPr>
              <a:t>Culinary Mind</a:t>
            </a:r>
          </a:p>
        </p:txBody>
      </p:sp>
      <p:sp>
        <p:nvSpPr>
          <p:cNvPr id="12" name="CasellaDiTesto 11"/>
          <p:cNvSpPr txBox="1"/>
          <p:nvPr/>
        </p:nvSpPr>
        <p:spPr>
          <a:xfrm>
            <a:off x="2040147" y="3949717"/>
            <a:ext cx="8976195" cy="800219"/>
          </a:xfrm>
          <a:prstGeom prst="rect">
            <a:avLst/>
          </a:prstGeom>
          <a:noFill/>
        </p:spPr>
        <p:txBody>
          <a:bodyPr wrap="square" lIns="121920" tIns="60960" rIns="121920" bIns="60960" rtlCol="0" anchor="t">
            <a:spAutoFit/>
          </a:bodyPr>
          <a:lstStyle/>
          <a:p>
            <a:pPr algn="ctr"/>
            <a:r>
              <a:rPr lang="en-US" sz="2200" b="1" i="1" dirty="0">
                <a:solidFill>
                  <a:srgbClr val="595959"/>
                </a:solidFill>
              </a:rPr>
              <a:t>16th International Conference on Biomedical Ontology (ICBO 2025)</a:t>
            </a:r>
          </a:p>
          <a:p>
            <a:pPr algn="ctr" defTabSz="1219170"/>
            <a:r>
              <a:rPr lang="en-GB" sz="2200" dirty="0">
                <a:solidFill>
                  <a:prstClr val="black"/>
                </a:solidFill>
                <a:latin typeface="Baskerville Old Face"/>
                <a:ea typeface="Tahoma"/>
                <a:cs typeface="Tahoma"/>
              </a:rPr>
              <a:t>November 14, 2025</a:t>
            </a:r>
          </a:p>
        </p:txBody>
      </p:sp>
      <p:pic>
        <p:nvPicPr>
          <p:cNvPr id="3" name="Picture 3" descr="Shape, logo&#10;&#10;Description automatically generated">
            <a:extLst>
              <a:ext uri="{FF2B5EF4-FFF2-40B4-BE49-F238E27FC236}">
                <a16:creationId xmlns:a16="http://schemas.microsoft.com/office/drawing/2014/main" id="{673EF08F-F83C-4430-98C0-09CF8B6BF176}"/>
              </a:ext>
            </a:extLst>
          </p:cNvPr>
          <p:cNvPicPr>
            <a:picLocks noChangeAspect="1"/>
          </p:cNvPicPr>
          <p:nvPr/>
        </p:nvPicPr>
        <p:blipFill>
          <a:blip r:embed="rId2"/>
          <a:stretch>
            <a:fillRect/>
          </a:stretch>
        </p:blipFill>
        <p:spPr>
          <a:xfrm>
            <a:off x="579334" y="5229004"/>
            <a:ext cx="1090133" cy="1097459"/>
          </a:xfrm>
          <a:prstGeom prst="rect">
            <a:avLst/>
          </a:prstGeom>
        </p:spPr>
      </p:pic>
      <p:pic>
        <p:nvPicPr>
          <p:cNvPr id="11" name="Picture 10">
            <a:extLst>
              <a:ext uri="{FF2B5EF4-FFF2-40B4-BE49-F238E27FC236}">
                <a16:creationId xmlns:a16="http://schemas.microsoft.com/office/drawing/2014/main" id="{942C259E-0E4B-EF46-D5FA-B959FC79AA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1173" y="5404480"/>
            <a:ext cx="1831495" cy="960784"/>
          </a:xfrm>
          <a:prstGeom prst="rect">
            <a:avLst/>
          </a:prstGeom>
        </p:spPr>
      </p:pic>
      <p:pic>
        <p:nvPicPr>
          <p:cNvPr id="4" name="Picture 3">
            <a:extLst>
              <a:ext uri="{FF2B5EF4-FFF2-40B4-BE49-F238E27FC236}">
                <a16:creationId xmlns:a16="http://schemas.microsoft.com/office/drawing/2014/main" id="{3ECDDF89-99D7-B959-5994-BC6CA291B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654" y="222386"/>
            <a:ext cx="1831495" cy="865092"/>
          </a:xfrm>
          <a:prstGeom prst="rect">
            <a:avLst/>
          </a:prstGeom>
        </p:spPr>
      </p:pic>
    </p:spTree>
    <p:extLst>
      <p:ext uri="{BB962C8B-B14F-4D97-AF65-F5344CB8AC3E}">
        <p14:creationId xmlns:p14="http://schemas.microsoft.com/office/powerpoint/2010/main" val="20200026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2"/>
          <p:cNvSpPr txBox="1"/>
          <p:nvPr/>
        </p:nvSpPr>
        <p:spPr>
          <a:xfrm>
            <a:off x="728663" y="1422400"/>
            <a:ext cx="4505552" cy="2387600"/>
          </a:xfrm>
          <a:prstGeom prst="rect">
            <a:avLst/>
          </a:prstGeom>
        </p:spPr>
        <p:txBody>
          <a:bodyPr vert="horz" lIns="91440" tIns="45720" rIns="91440" bIns="45720" rtlCol="0" anchor="b">
            <a:normAutofit/>
          </a:bodyPr>
          <a:lstStyle/>
          <a:p>
            <a:pPr marL="0" marR="0" lvl="0" indent="0" fontAlgn="auto">
              <a:lnSpc>
                <a:spcPct val="90000"/>
              </a:lnSpc>
              <a:spcBef>
                <a:spcPct val="0"/>
              </a:spcBef>
              <a:spcAft>
                <a:spcPts val="600"/>
              </a:spcAft>
              <a:buClrTx/>
              <a:buSzTx/>
              <a:tabLst/>
              <a:defRPr/>
            </a:pPr>
            <a:r>
              <a:rPr kumimoji="0" lang="en-US" sz="5000" b="0" i="0" u="none" strike="noStrike" cap="none" spc="63" normalizeH="0" baseline="0" noProof="0">
                <a:ln>
                  <a:noFill/>
                </a:ln>
                <a:solidFill>
                  <a:schemeClr val="bg1"/>
                </a:solidFill>
                <a:effectLst/>
                <a:uLnTx/>
                <a:uFillTx/>
                <a:latin typeface="+mj-lt"/>
                <a:ea typeface="+mj-ea"/>
                <a:cs typeface="+mj-cs"/>
                <a:sym typeface="Radley"/>
              </a:rPr>
              <a:t>Research Network</a:t>
            </a:r>
          </a:p>
        </p:txBody>
      </p:sp>
      <p:sp>
        <p:nvSpPr>
          <p:cNvPr id="72" name="Freeform: Shape 71">
            <a:extLst>
              <a:ext uri="{FF2B5EF4-FFF2-40B4-BE49-F238E27FC236}">
                <a16:creationId xmlns:a16="http://schemas.microsoft.com/office/drawing/2014/main" id="{0277405F-0B4F-4418-B773-1B38814125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0421" y="226893"/>
            <a:ext cx="5968658" cy="6085007"/>
          </a:xfrm>
          <a:custGeom>
            <a:avLst/>
            <a:gdLst>
              <a:gd name="connsiteX0" fmla="*/ 0 w 5968658"/>
              <a:gd name="connsiteY0" fmla="*/ 0 h 6085007"/>
              <a:gd name="connsiteX1" fmla="*/ 3557919 w 5968658"/>
              <a:gd name="connsiteY1" fmla="*/ 0 h 6085007"/>
              <a:gd name="connsiteX2" fmla="*/ 3557919 w 5968658"/>
              <a:gd name="connsiteY2" fmla="*/ 2195749 h 6085007"/>
              <a:gd name="connsiteX3" fmla="*/ 5968658 w 5968658"/>
              <a:gd name="connsiteY3" fmla="*/ 2195749 h 6085007"/>
              <a:gd name="connsiteX4" fmla="*/ 5968658 w 5968658"/>
              <a:gd name="connsiteY4" fmla="*/ 6085007 h 6085007"/>
              <a:gd name="connsiteX5" fmla="*/ 2058230 w 5968658"/>
              <a:gd name="connsiteY5" fmla="*/ 6085007 h 6085007"/>
              <a:gd name="connsiteX6" fmla="*/ 2058230 w 5968658"/>
              <a:gd name="connsiteY6" fmla="*/ 3538657 h 6085007"/>
              <a:gd name="connsiteX7" fmla="*/ 0 w 5968658"/>
              <a:gd name="connsiteY7" fmla="*/ 3538657 h 6085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68658" h="6085007">
                <a:moveTo>
                  <a:pt x="0" y="0"/>
                </a:moveTo>
                <a:lnTo>
                  <a:pt x="3557919" y="0"/>
                </a:lnTo>
                <a:lnTo>
                  <a:pt x="3557919" y="2195749"/>
                </a:lnTo>
                <a:lnTo>
                  <a:pt x="5968658" y="2195749"/>
                </a:lnTo>
                <a:lnTo>
                  <a:pt x="5968658" y="6085007"/>
                </a:lnTo>
                <a:lnTo>
                  <a:pt x="2058230" y="6085007"/>
                </a:lnTo>
                <a:lnTo>
                  <a:pt x="2058230" y="3538657"/>
                </a:lnTo>
                <a:lnTo>
                  <a:pt x="0" y="3538657"/>
                </a:lnTo>
                <a:close/>
              </a:path>
            </a:pathLst>
          </a:custGeom>
          <a:solidFill>
            <a:schemeClr val="tx1">
              <a:lumMod val="95000"/>
              <a:lumOff val="5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shot of a website&#10;&#10;Description automatically generated">
            <a:extLst>
              <a:ext uri="{FF2B5EF4-FFF2-40B4-BE49-F238E27FC236}">
                <a16:creationId xmlns:a16="http://schemas.microsoft.com/office/drawing/2014/main" id="{C93A89C0-1EC2-D6AA-7CFC-6F416BBC3925}"/>
              </a:ext>
            </a:extLst>
          </p:cNvPr>
          <p:cNvPicPr>
            <a:picLocks noChangeAspect="1"/>
          </p:cNvPicPr>
          <p:nvPr/>
        </p:nvPicPr>
        <p:blipFill>
          <a:blip r:embed="rId2"/>
          <a:stretch>
            <a:fillRect/>
          </a:stretch>
        </p:blipFill>
        <p:spPr>
          <a:xfrm>
            <a:off x="8044292" y="2663211"/>
            <a:ext cx="2999146" cy="3408121"/>
          </a:xfrm>
          <a:prstGeom prst="rect">
            <a:avLst/>
          </a:prstGeom>
        </p:spPr>
      </p:pic>
      <p:pic>
        <p:nvPicPr>
          <p:cNvPr id="7" name="Picture 6" descr="A group of people's names&#10;&#10;Description automatically generated">
            <a:extLst>
              <a:ext uri="{FF2B5EF4-FFF2-40B4-BE49-F238E27FC236}">
                <a16:creationId xmlns:a16="http://schemas.microsoft.com/office/drawing/2014/main" id="{9988B7F2-F921-5CAA-B78B-E22A1C91078D}"/>
              </a:ext>
            </a:extLst>
          </p:cNvPr>
          <p:cNvPicPr>
            <a:picLocks noChangeAspect="1"/>
          </p:cNvPicPr>
          <p:nvPr/>
        </p:nvPicPr>
        <p:blipFill>
          <a:blip r:embed="rId3"/>
          <a:stretch>
            <a:fillRect/>
          </a:stretch>
        </p:blipFill>
        <p:spPr>
          <a:xfrm>
            <a:off x="5756393" y="1142078"/>
            <a:ext cx="3105975" cy="1708286"/>
          </a:xfrm>
          <a:prstGeom prst="rect">
            <a:avLst/>
          </a:prstGeom>
        </p:spPr>
      </p:pic>
    </p:spTree>
    <p:extLst>
      <p:ext uri="{BB962C8B-B14F-4D97-AF65-F5344CB8AC3E}">
        <p14:creationId xmlns:p14="http://schemas.microsoft.com/office/powerpoint/2010/main" val="209245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2"/>
          <p:cNvSpPr txBox="1"/>
          <p:nvPr/>
        </p:nvSpPr>
        <p:spPr>
          <a:xfrm>
            <a:off x="3528226" y="236328"/>
            <a:ext cx="5127730" cy="671081"/>
          </a:xfrm>
          <a:prstGeom prst="rect">
            <a:avLst/>
          </a:prstGeom>
        </p:spPr>
        <p:txBody>
          <a:bodyPr wrap="square" lIns="0" tIns="0" rIns="0" bIns="0" rtlCol="0" anchor="t">
            <a:spAutoFit/>
          </a:bodyPr>
          <a:lstStyle/>
          <a:p>
            <a:pPr marL="0" marR="0" lvl="0" indent="0" algn="l" defTabSz="914400" rtl="0" eaLnBrk="1" fontAlgn="auto" latinLnBrk="0" hangingPunct="1">
              <a:lnSpc>
                <a:spcPts val="5378"/>
              </a:lnSpc>
              <a:spcBef>
                <a:spcPts val="0"/>
              </a:spcBef>
              <a:spcAft>
                <a:spcPts val="0"/>
              </a:spcAft>
              <a:buClrTx/>
              <a:buSzTx/>
              <a:buFontTx/>
              <a:buNone/>
              <a:tabLst/>
              <a:defRPr/>
            </a:pPr>
            <a:r>
              <a:rPr kumimoji="0" lang="en-US" sz="4482" b="0" i="0" u="none" strike="noStrike" kern="1200" cap="none" spc="63" normalizeH="0" baseline="0" noProof="0" dirty="0">
                <a:ln>
                  <a:noFill/>
                </a:ln>
                <a:solidFill>
                  <a:srgbClr val="000000"/>
                </a:solidFill>
                <a:effectLst/>
                <a:uLnTx/>
                <a:uFillTx/>
                <a:latin typeface="Radley"/>
                <a:ea typeface="Radley"/>
                <a:cs typeface="Radley"/>
                <a:sym typeface="Radley"/>
              </a:rPr>
              <a:t>Research Team</a:t>
            </a:r>
          </a:p>
        </p:txBody>
      </p:sp>
      <p:sp>
        <p:nvSpPr>
          <p:cNvPr id="3" name="TextBox 2">
            <a:extLst>
              <a:ext uri="{FF2B5EF4-FFF2-40B4-BE49-F238E27FC236}">
                <a16:creationId xmlns:a16="http://schemas.microsoft.com/office/drawing/2014/main" id="{3A720A3F-2E97-E119-A3E3-DFC34ED5C226}"/>
              </a:ext>
            </a:extLst>
          </p:cNvPr>
          <p:cNvSpPr txBox="1"/>
          <p:nvPr/>
        </p:nvSpPr>
        <p:spPr>
          <a:xfrm>
            <a:off x="532165" y="1141388"/>
            <a:ext cx="2261068" cy="923330"/>
          </a:xfrm>
          <a:prstGeom prst="rect">
            <a:avLst/>
          </a:prstGeom>
          <a:noFill/>
        </p:spPr>
        <p:txBody>
          <a:bodyPr wrap="none" rtlCol="0">
            <a:spAutoFit/>
          </a:bodyPr>
          <a:lstStyle/>
          <a:p>
            <a:r>
              <a:rPr lang="en-IT" b="1" dirty="0">
                <a:solidFill>
                  <a:schemeClr val="bg1"/>
                </a:solidFill>
              </a:rPr>
              <a:t>Nicola Piras</a:t>
            </a:r>
          </a:p>
          <a:p>
            <a:r>
              <a:rPr lang="en-IT" dirty="0">
                <a:solidFill>
                  <a:schemeClr val="bg1"/>
                </a:solidFill>
              </a:rPr>
              <a:t>Full Researcher</a:t>
            </a:r>
          </a:p>
          <a:p>
            <a:r>
              <a:rPr lang="en-IT" dirty="0">
                <a:solidFill>
                  <a:schemeClr val="bg1"/>
                </a:solidFill>
              </a:rPr>
              <a:t>U. </a:t>
            </a:r>
            <a:r>
              <a:rPr lang="en-GB" dirty="0">
                <a:solidFill>
                  <a:schemeClr val="bg1"/>
                </a:solidFill>
              </a:rPr>
              <a:t>D</a:t>
            </a:r>
            <a:r>
              <a:rPr lang="en-IT" dirty="0">
                <a:solidFill>
                  <a:schemeClr val="bg1"/>
                </a:solidFill>
              </a:rPr>
              <a:t>o Minho, Portugal</a:t>
            </a:r>
          </a:p>
        </p:txBody>
      </p:sp>
      <p:sp>
        <p:nvSpPr>
          <p:cNvPr id="4" name="TextBox 3">
            <a:extLst>
              <a:ext uri="{FF2B5EF4-FFF2-40B4-BE49-F238E27FC236}">
                <a16:creationId xmlns:a16="http://schemas.microsoft.com/office/drawing/2014/main" id="{CC178933-F098-E99E-B10A-66A72D940A64}"/>
              </a:ext>
            </a:extLst>
          </p:cNvPr>
          <p:cNvSpPr txBox="1"/>
          <p:nvPr/>
        </p:nvSpPr>
        <p:spPr>
          <a:xfrm>
            <a:off x="7096597" y="837329"/>
            <a:ext cx="2375137" cy="923330"/>
          </a:xfrm>
          <a:prstGeom prst="rect">
            <a:avLst/>
          </a:prstGeom>
          <a:noFill/>
        </p:spPr>
        <p:txBody>
          <a:bodyPr wrap="none" rtlCol="0">
            <a:spAutoFit/>
          </a:bodyPr>
          <a:lstStyle/>
          <a:p>
            <a:r>
              <a:rPr lang="en-IT" b="1" dirty="0">
                <a:solidFill>
                  <a:schemeClr val="bg1"/>
                </a:solidFill>
              </a:rPr>
              <a:t>Beatrice Serini</a:t>
            </a:r>
          </a:p>
          <a:p>
            <a:r>
              <a:rPr lang="en-IT" dirty="0">
                <a:solidFill>
                  <a:schemeClr val="bg1"/>
                </a:solidFill>
              </a:rPr>
              <a:t>PhD (2025), U. of Milan</a:t>
            </a:r>
          </a:p>
          <a:p>
            <a:r>
              <a:rPr lang="en-IT" i="1" dirty="0">
                <a:solidFill>
                  <a:schemeClr val="bg1"/>
                </a:solidFill>
              </a:rPr>
              <a:t>Nutrition science</a:t>
            </a:r>
            <a:r>
              <a:rPr lang="en-IT" dirty="0">
                <a:solidFill>
                  <a:schemeClr val="bg1"/>
                </a:solidFill>
              </a:rPr>
              <a:t> </a:t>
            </a:r>
          </a:p>
        </p:txBody>
      </p:sp>
      <p:sp>
        <p:nvSpPr>
          <p:cNvPr id="5" name="TextBox 4">
            <a:extLst>
              <a:ext uri="{FF2B5EF4-FFF2-40B4-BE49-F238E27FC236}">
                <a16:creationId xmlns:a16="http://schemas.microsoft.com/office/drawing/2014/main" id="{DBFE0D2A-2B76-2751-BB1E-8AF66ECCEDB7}"/>
              </a:ext>
            </a:extLst>
          </p:cNvPr>
          <p:cNvSpPr txBox="1"/>
          <p:nvPr/>
        </p:nvSpPr>
        <p:spPr>
          <a:xfrm>
            <a:off x="7096597" y="1803705"/>
            <a:ext cx="1611852" cy="923330"/>
          </a:xfrm>
          <a:prstGeom prst="rect">
            <a:avLst/>
          </a:prstGeom>
          <a:noFill/>
        </p:spPr>
        <p:txBody>
          <a:bodyPr wrap="none" rtlCol="0">
            <a:spAutoFit/>
          </a:bodyPr>
          <a:lstStyle/>
          <a:p>
            <a:r>
              <a:rPr lang="en-IT" b="1" dirty="0">
                <a:solidFill>
                  <a:schemeClr val="bg1"/>
                </a:solidFill>
              </a:rPr>
              <a:t>Giorgio Ubbiali</a:t>
            </a:r>
          </a:p>
          <a:p>
            <a:r>
              <a:rPr lang="en-IT" dirty="0">
                <a:solidFill>
                  <a:schemeClr val="bg1"/>
                </a:solidFill>
              </a:rPr>
              <a:t>Postdoc, Brixen</a:t>
            </a:r>
          </a:p>
          <a:p>
            <a:r>
              <a:rPr lang="en-US" i="1" dirty="0">
                <a:solidFill>
                  <a:schemeClr val="bg1"/>
                </a:solidFill>
              </a:rPr>
              <a:t>Food ontology</a:t>
            </a:r>
            <a:endParaRPr lang="en-IT" i="1" dirty="0">
              <a:solidFill>
                <a:schemeClr val="bg1"/>
              </a:solidFill>
            </a:endParaRPr>
          </a:p>
        </p:txBody>
      </p:sp>
      <p:sp>
        <p:nvSpPr>
          <p:cNvPr id="6" name="TextBox 5">
            <a:extLst>
              <a:ext uri="{FF2B5EF4-FFF2-40B4-BE49-F238E27FC236}">
                <a16:creationId xmlns:a16="http://schemas.microsoft.com/office/drawing/2014/main" id="{3C93157C-C2E5-B0BB-364F-7581C30619B4}"/>
              </a:ext>
            </a:extLst>
          </p:cNvPr>
          <p:cNvSpPr txBox="1"/>
          <p:nvPr/>
        </p:nvSpPr>
        <p:spPr>
          <a:xfrm>
            <a:off x="532165" y="2112585"/>
            <a:ext cx="4395178" cy="923330"/>
          </a:xfrm>
          <a:prstGeom prst="rect">
            <a:avLst/>
          </a:prstGeom>
          <a:noFill/>
        </p:spPr>
        <p:txBody>
          <a:bodyPr wrap="none" rtlCol="0">
            <a:spAutoFit/>
          </a:bodyPr>
          <a:lstStyle/>
          <a:p>
            <a:r>
              <a:rPr lang="en-IT" b="1" dirty="0">
                <a:solidFill>
                  <a:schemeClr val="bg1"/>
                </a:solidFill>
              </a:rPr>
              <a:t>Matteo Gandolini</a:t>
            </a:r>
          </a:p>
          <a:p>
            <a:r>
              <a:rPr lang="en-IT" dirty="0">
                <a:solidFill>
                  <a:schemeClr val="bg1"/>
                </a:solidFill>
              </a:rPr>
              <a:t>PhD (2025), U. of Milan &amp; Institute Lyfe, Lyon</a:t>
            </a:r>
          </a:p>
          <a:p>
            <a:r>
              <a:rPr lang="en-US" i="1" dirty="0">
                <a:solidFill>
                  <a:schemeClr val="bg1"/>
                </a:solidFill>
              </a:rPr>
              <a:t>Children food ontology &amp; psychology</a:t>
            </a:r>
            <a:endParaRPr lang="en-IT" i="1" dirty="0">
              <a:solidFill>
                <a:schemeClr val="bg1"/>
              </a:solidFill>
            </a:endParaRPr>
          </a:p>
        </p:txBody>
      </p:sp>
      <p:sp>
        <p:nvSpPr>
          <p:cNvPr id="7" name="TextBox 6">
            <a:extLst>
              <a:ext uri="{FF2B5EF4-FFF2-40B4-BE49-F238E27FC236}">
                <a16:creationId xmlns:a16="http://schemas.microsoft.com/office/drawing/2014/main" id="{A8C89CCA-43E3-C7B4-D24F-1A408DDFE7D1}"/>
              </a:ext>
            </a:extLst>
          </p:cNvPr>
          <p:cNvSpPr txBox="1"/>
          <p:nvPr/>
        </p:nvSpPr>
        <p:spPr>
          <a:xfrm>
            <a:off x="532165" y="3121447"/>
            <a:ext cx="5398850" cy="923330"/>
          </a:xfrm>
          <a:prstGeom prst="rect">
            <a:avLst/>
          </a:prstGeom>
          <a:noFill/>
        </p:spPr>
        <p:txBody>
          <a:bodyPr wrap="none" rtlCol="0">
            <a:spAutoFit/>
          </a:bodyPr>
          <a:lstStyle/>
          <a:p>
            <a:r>
              <a:rPr lang="en-IT" b="1" dirty="0">
                <a:solidFill>
                  <a:schemeClr val="bg1"/>
                </a:solidFill>
              </a:rPr>
              <a:t>Laura Gagliardi</a:t>
            </a:r>
          </a:p>
          <a:p>
            <a:r>
              <a:rPr lang="en-IT" dirty="0">
                <a:solidFill>
                  <a:schemeClr val="bg1"/>
                </a:solidFill>
              </a:rPr>
              <a:t>PhD Candidate (2026), U. of Milan &amp; Institute Lyfe, Lyon</a:t>
            </a:r>
          </a:p>
          <a:p>
            <a:r>
              <a:rPr lang="en-US" i="1" dirty="0">
                <a:solidFill>
                  <a:schemeClr val="bg1"/>
                </a:solidFill>
              </a:rPr>
              <a:t>Psychology of meat disgust</a:t>
            </a:r>
            <a:endParaRPr lang="en-IT" i="1" dirty="0">
              <a:solidFill>
                <a:schemeClr val="bg1"/>
              </a:solidFill>
            </a:endParaRPr>
          </a:p>
        </p:txBody>
      </p:sp>
      <p:sp>
        <p:nvSpPr>
          <p:cNvPr id="8" name="TextBox 7">
            <a:extLst>
              <a:ext uri="{FF2B5EF4-FFF2-40B4-BE49-F238E27FC236}">
                <a16:creationId xmlns:a16="http://schemas.microsoft.com/office/drawing/2014/main" id="{EF135D1B-42EF-1B76-66A4-C36B86D89B08}"/>
              </a:ext>
            </a:extLst>
          </p:cNvPr>
          <p:cNvSpPr txBox="1"/>
          <p:nvPr/>
        </p:nvSpPr>
        <p:spPr>
          <a:xfrm>
            <a:off x="7096597" y="2768274"/>
            <a:ext cx="3483005" cy="923330"/>
          </a:xfrm>
          <a:prstGeom prst="rect">
            <a:avLst/>
          </a:prstGeom>
          <a:noFill/>
        </p:spPr>
        <p:txBody>
          <a:bodyPr wrap="none" rtlCol="0">
            <a:spAutoFit/>
          </a:bodyPr>
          <a:lstStyle/>
          <a:p>
            <a:r>
              <a:rPr lang="en-IT" b="1" dirty="0">
                <a:solidFill>
                  <a:schemeClr val="bg1"/>
                </a:solidFill>
              </a:rPr>
              <a:t>Elena Bossini</a:t>
            </a:r>
          </a:p>
          <a:p>
            <a:r>
              <a:rPr lang="en-IT" dirty="0">
                <a:solidFill>
                  <a:schemeClr val="bg1"/>
                </a:solidFill>
              </a:rPr>
              <a:t>PhD Candidate (2026), U. of Sassari</a:t>
            </a:r>
          </a:p>
          <a:p>
            <a:r>
              <a:rPr lang="en-US" i="1" dirty="0">
                <a:solidFill>
                  <a:schemeClr val="bg1"/>
                </a:solidFill>
              </a:rPr>
              <a:t>Spaces of novel/lab/artificial meat</a:t>
            </a:r>
            <a:endParaRPr lang="en-IT" i="1" dirty="0">
              <a:solidFill>
                <a:schemeClr val="bg1"/>
              </a:solidFill>
            </a:endParaRPr>
          </a:p>
        </p:txBody>
      </p:sp>
      <p:sp>
        <p:nvSpPr>
          <p:cNvPr id="9" name="TextBox 8">
            <a:extLst>
              <a:ext uri="{FF2B5EF4-FFF2-40B4-BE49-F238E27FC236}">
                <a16:creationId xmlns:a16="http://schemas.microsoft.com/office/drawing/2014/main" id="{9B071310-B58D-5FC3-BD85-9A451DDEDBB0}"/>
              </a:ext>
            </a:extLst>
          </p:cNvPr>
          <p:cNvSpPr txBox="1"/>
          <p:nvPr/>
        </p:nvSpPr>
        <p:spPr>
          <a:xfrm>
            <a:off x="532165" y="4206299"/>
            <a:ext cx="4386201" cy="923330"/>
          </a:xfrm>
          <a:prstGeom prst="rect">
            <a:avLst/>
          </a:prstGeom>
          <a:noFill/>
        </p:spPr>
        <p:txBody>
          <a:bodyPr wrap="none" rtlCol="0">
            <a:spAutoFit/>
          </a:bodyPr>
          <a:lstStyle/>
          <a:p>
            <a:r>
              <a:rPr lang="en-IT" b="1" dirty="0">
                <a:solidFill>
                  <a:schemeClr val="bg1"/>
                </a:solidFill>
              </a:rPr>
              <a:t>Tias Maity</a:t>
            </a:r>
          </a:p>
          <a:p>
            <a:r>
              <a:rPr lang="en-IT" dirty="0">
                <a:solidFill>
                  <a:schemeClr val="bg1"/>
                </a:solidFill>
              </a:rPr>
              <a:t>PhD Candidate (2025), Alliance U., Bangalore</a:t>
            </a:r>
          </a:p>
          <a:p>
            <a:r>
              <a:rPr lang="en-US" i="1" dirty="0">
                <a:solidFill>
                  <a:schemeClr val="bg1"/>
                </a:solidFill>
              </a:rPr>
              <a:t>Food Heritage in Cheese carving </a:t>
            </a:r>
            <a:endParaRPr lang="en-IT" i="1" dirty="0">
              <a:solidFill>
                <a:schemeClr val="bg1"/>
              </a:solidFill>
            </a:endParaRPr>
          </a:p>
        </p:txBody>
      </p:sp>
      <p:sp>
        <p:nvSpPr>
          <p:cNvPr id="10" name="TextBox 9">
            <a:extLst>
              <a:ext uri="{FF2B5EF4-FFF2-40B4-BE49-F238E27FC236}">
                <a16:creationId xmlns:a16="http://schemas.microsoft.com/office/drawing/2014/main" id="{A7435897-BD27-5046-C718-A41C65003179}"/>
              </a:ext>
            </a:extLst>
          </p:cNvPr>
          <p:cNvSpPr txBox="1"/>
          <p:nvPr/>
        </p:nvSpPr>
        <p:spPr>
          <a:xfrm>
            <a:off x="7151162" y="3744634"/>
            <a:ext cx="3703130" cy="923330"/>
          </a:xfrm>
          <a:prstGeom prst="rect">
            <a:avLst/>
          </a:prstGeom>
          <a:noFill/>
        </p:spPr>
        <p:txBody>
          <a:bodyPr wrap="none" rtlCol="0">
            <a:spAutoFit/>
          </a:bodyPr>
          <a:lstStyle/>
          <a:p>
            <a:r>
              <a:rPr lang="en-IT" b="1" dirty="0">
                <a:solidFill>
                  <a:schemeClr val="bg1"/>
                </a:solidFill>
              </a:rPr>
              <a:t>Emma Hardy</a:t>
            </a:r>
          </a:p>
          <a:p>
            <a:r>
              <a:rPr lang="en-IT" dirty="0">
                <a:solidFill>
                  <a:schemeClr val="bg1"/>
                </a:solidFill>
              </a:rPr>
              <a:t>PhD Candidate (2025), U. of Michigan</a:t>
            </a:r>
          </a:p>
          <a:p>
            <a:r>
              <a:rPr lang="en-US" i="1" dirty="0">
                <a:solidFill>
                  <a:schemeClr val="bg1"/>
                </a:solidFill>
              </a:rPr>
              <a:t>Metaphysics of Food</a:t>
            </a:r>
            <a:endParaRPr lang="en-IT" i="1" dirty="0">
              <a:solidFill>
                <a:schemeClr val="bg1"/>
              </a:solidFill>
            </a:endParaRPr>
          </a:p>
        </p:txBody>
      </p:sp>
      <p:sp>
        <p:nvSpPr>
          <p:cNvPr id="11" name="TextBox 10">
            <a:extLst>
              <a:ext uri="{FF2B5EF4-FFF2-40B4-BE49-F238E27FC236}">
                <a16:creationId xmlns:a16="http://schemas.microsoft.com/office/drawing/2014/main" id="{94C99513-FD2E-6675-C3A2-459C772CC05C}"/>
              </a:ext>
            </a:extLst>
          </p:cNvPr>
          <p:cNvSpPr txBox="1"/>
          <p:nvPr/>
        </p:nvSpPr>
        <p:spPr>
          <a:xfrm>
            <a:off x="532165" y="5335485"/>
            <a:ext cx="5398850" cy="923330"/>
          </a:xfrm>
          <a:prstGeom prst="rect">
            <a:avLst/>
          </a:prstGeom>
          <a:noFill/>
        </p:spPr>
        <p:txBody>
          <a:bodyPr wrap="none" rtlCol="0">
            <a:spAutoFit/>
          </a:bodyPr>
          <a:lstStyle/>
          <a:p>
            <a:r>
              <a:rPr lang="en-IT" b="1" dirty="0">
                <a:solidFill>
                  <a:schemeClr val="bg1"/>
                </a:solidFill>
              </a:rPr>
              <a:t>Maxime Barbier</a:t>
            </a:r>
          </a:p>
          <a:p>
            <a:r>
              <a:rPr lang="en-IT" dirty="0">
                <a:solidFill>
                  <a:schemeClr val="bg1"/>
                </a:solidFill>
              </a:rPr>
              <a:t>PhD Candidate (2026), U. of Milan &amp; Institute Lyfe, Lyon</a:t>
            </a:r>
          </a:p>
          <a:p>
            <a:r>
              <a:rPr lang="en-US" i="1" dirty="0">
                <a:solidFill>
                  <a:schemeClr val="bg1"/>
                </a:solidFill>
              </a:rPr>
              <a:t>Wine Tasting Expertise &amp; Epistemology</a:t>
            </a:r>
            <a:endParaRPr lang="en-IT" i="1" dirty="0">
              <a:solidFill>
                <a:schemeClr val="bg1"/>
              </a:solidFill>
            </a:endParaRPr>
          </a:p>
        </p:txBody>
      </p:sp>
      <p:sp>
        <p:nvSpPr>
          <p:cNvPr id="12" name="TextBox 11">
            <a:extLst>
              <a:ext uri="{FF2B5EF4-FFF2-40B4-BE49-F238E27FC236}">
                <a16:creationId xmlns:a16="http://schemas.microsoft.com/office/drawing/2014/main" id="{6B803D87-0D27-B10C-5553-BA7203100712}"/>
              </a:ext>
            </a:extLst>
          </p:cNvPr>
          <p:cNvSpPr txBox="1"/>
          <p:nvPr/>
        </p:nvSpPr>
        <p:spPr>
          <a:xfrm>
            <a:off x="7151162" y="4766237"/>
            <a:ext cx="3511859" cy="923330"/>
          </a:xfrm>
          <a:prstGeom prst="rect">
            <a:avLst/>
          </a:prstGeom>
          <a:noFill/>
        </p:spPr>
        <p:txBody>
          <a:bodyPr wrap="none" rtlCol="0">
            <a:spAutoFit/>
          </a:bodyPr>
          <a:lstStyle/>
          <a:p>
            <a:r>
              <a:rPr lang="en-IT" b="1" dirty="0">
                <a:solidFill>
                  <a:schemeClr val="bg1"/>
                </a:solidFill>
              </a:rPr>
              <a:t>Michelangelo Bestazzi</a:t>
            </a:r>
          </a:p>
          <a:p>
            <a:r>
              <a:rPr lang="en-IT" dirty="0">
                <a:solidFill>
                  <a:schemeClr val="bg1"/>
                </a:solidFill>
              </a:rPr>
              <a:t>PhD Candidate (2028), U. of Minho </a:t>
            </a:r>
          </a:p>
          <a:p>
            <a:r>
              <a:rPr lang="en-US" i="1" dirty="0">
                <a:solidFill>
                  <a:schemeClr val="bg1"/>
                </a:solidFill>
              </a:rPr>
              <a:t>Food as Soft Power</a:t>
            </a:r>
            <a:endParaRPr lang="en-IT" i="1" dirty="0">
              <a:solidFill>
                <a:schemeClr val="bg1"/>
              </a:solidFill>
            </a:endParaRPr>
          </a:p>
        </p:txBody>
      </p:sp>
      <p:sp>
        <p:nvSpPr>
          <p:cNvPr id="13" name="TextBox 12">
            <a:extLst>
              <a:ext uri="{FF2B5EF4-FFF2-40B4-BE49-F238E27FC236}">
                <a16:creationId xmlns:a16="http://schemas.microsoft.com/office/drawing/2014/main" id="{A11B265B-47EA-9FCD-3DC9-EB0AAB43E35D}"/>
              </a:ext>
            </a:extLst>
          </p:cNvPr>
          <p:cNvSpPr txBox="1"/>
          <p:nvPr/>
        </p:nvSpPr>
        <p:spPr>
          <a:xfrm>
            <a:off x="7151162" y="5698342"/>
            <a:ext cx="4819524" cy="923330"/>
          </a:xfrm>
          <a:prstGeom prst="rect">
            <a:avLst/>
          </a:prstGeom>
          <a:noFill/>
        </p:spPr>
        <p:txBody>
          <a:bodyPr wrap="none" rtlCol="0">
            <a:spAutoFit/>
          </a:bodyPr>
          <a:lstStyle/>
          <a:p>
            <a:r>
              <a:rPr lang="en-IT" b="1" dirty="0">
                <a:solidFill>
                  <a:schemeClr val="bg1"/>
                </a:solidFill>
              </a:rPr>
              <a:t>Matilde Pileri</a:t>
            </a:r>
          </a:p>
          <a:p>
            <a:r>
              <a:rPr lang="en-IT" dirty="0">
                <a:solidFill>
                  <a:schemeClr val="bg1"/>
                </a:solidFill>
              </a:rPr>
              <a:t>PhD Candidate (2028), U. of Sassari</a:t>
            </a:r>
          </a:p>
          <a:p>
            <a:r>
              <a:rPr lang="en-US" i="1" dirty="0">
                <a:solidFill>
                  <a:schemeClr val="bg1"/>
                </a:solidFill>
              </a:rPr>
              <a:t>Communicating Sustainability in the Food Domain</a:t>
            </a:r>
            <a:endParaRPr lang="en-IT" i="1" dirty="0">
              <a:solidFill>
                <a:schemeClr val="bg1"/>
              </a:solidFill>
            </a:endParaRPr>
          </a:p>
        </p:txBody>
      </p:sp>
    </p:spTree>
    <p:extLst>
      <p:ext uri="{BB962C8B-B14F-4D97-AF65-F5344CB8AC3E}">
        <p14:creationId xmlns:p14="http://schemas.microsoft.com/office/powerpoint/2010/main" val="2045221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08A340E-06DD-DC10-F5A6-723C2CF89AFD}"/>
              </a:ext>
            </a:extLst>
          </p:cNvPr>
          <p:cNvPicPr>
            <a:picLocks noChangeAspect="1"/>
          </p:cNvPicPr>
          <p:nvPr/>
        </p:nvPicPr>
        <p:blipFill>
          <a:blip r:embed="rId2"/>
          <a:srcRect l="1177" r="11764" b="-1"/>
          <a:stretch>
            <a:fillRect/>
          </a:stretch>
        </p:blipFill>
        <p:spPr>
          <a:xfrm>
            <a:off x="672943" y="1561830"/>
            <a:ext cx="6551228" cy="4740827"/>
          </a:xfrm>
          <a:prstGeom prst="rect">
            <a:avLst/>
          </a:prstGeom>
        </p:spPr>
      </p:pic>
      <p:pic>
        <p:nvPicPr>
          <p:cNvPr id="14" name="Picture 13" descr="A person with glasses and a beard&#10;&#10;Description automatically generated">
            <a:extLst>
              <a:ext uri="{FF2B5EF4-FFF2-40B4-BE49-F238E27FC236}">
                <a16:creationId xmlns:a16="http://schemas.microsoft.com/office/drawing/2014/main" id="{AF0CA963-6FAF-D844-D861-CBA003FC60CD}"/>
              </a:ext>
            </a:extLst>
          </p:cNvPr>
          <p:cNvPicPr>
            <a:picLocks noChangeAspect="1"/>
          </p:cNvPicPr>
          <p:nvPr/>
        </p:nvPicPr>
        <p:blipFill>
          <a:blip r:embed="rId3"/>
          <a:srcRect l="7022" r="8737" b="1"/>
          <a:stretch>
            <a:fillRect/>
          </a:stretch>
        </p:blipFill>
        <p:spPr>
          <a:xfrm>
            <a:off x="8164286" y="1929316"/>
            <a:ext cx="3374571" cy="4005856"/>
          </a:xfrm>
          <a:prstGeom prst="rect">
            <a:avLst/>
          </a:prstGeom>
        </p:spPr>
      </p:pic>
      <p:sp>
        <p:nvSpPr>
          <p:cNvPr id="21" name="Rectangle 20">
            <a:extLst>
              <a:ext uri="{FF2B5EF4-FFF2-40B4-BE49-F238E27FC236}">
                <a16:creationId xmlns:a16="http://schemas.microsoft.com/office/drawing/2014/main" id="{6DB035F4-535B-5F8E-E737-42F576F74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1376687"/>
          </a:xfrm>
          <a:prstGeom prst="rect">
            <a:avLst/>
          </a:prstGeom>
          <a:solidFill>
            <a:schemeClr val="bg1"/>
          </a:solidFill>
          <a:ln>
            <a:noFill/>
          </a:ln>
          <a:effectLst>
            <a:outerShdw blurRad="254000" dist="127000" dir="5460000" sx="90000" sy="90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589557" y="229547"/>
            <a:ext cx="7004647" cy="917595"/>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kumimoji="0" lang="en-US" sz="3600" b="0" i="0" u="none" strike="noStrike" kern="1200" cap="none" spc="63" normalizeH="0" baseline="0" noProof="0">
                <a:ln>
                  <a:noFill/>
                </a:ln>
                <a:solidFill>
                  <a:schemeClr val="tx1"/>
                </a:solidFill>
                <a:effectLst/>
                <a:uLnTx/>
                <a:uFillTx/>
                <a:latin typeface="+mj-lt"/>
                <a:ea typeface="+mj-ea"/>
                <a:cs typeface="+mj-cs"/>
                <a:sym typeface="Radley"/>
              </a:rPr>
              <a:t>This Research</a:t>
            </a:r>
          </a:p>
        </p:txBody>
      </p:sp>
      <p:sp>
        <p:nvSpPr>
          <p:cNvPr id="3" name="TextBox 2">
            <a:extLst>
              <a:ext uri="{FF2B5EF4-FFF2-40B4-BE49-F238E27FC236}">
                <a16:creationId xmlns:a16="http://schemas.microsoft.com/office/drawing/2014/main" id="{3A720A3F-2E97-E119-A3E3-DFC34ED5C226}"/>
              </a:ext>
            </a:extLst>
          </p:cNvPr>
          <p:cNvSpPr txBox="1"/>
          <p:nvPr/>
        </p:nvSpPr>
        <p:spPr>
          <a:xfrm>
            <a:off x="7594206" y="229546"/>
            <a:ext cx="4125651" cy="917596"/>
          </a:xfrm>
          <a:prstGeom prst="rect">
            <a:avLst/>
          </a:prstGeom>
        </p:spPr>
        <p:txBody>
          <a:bodyPr vert="horz" lIns="91440" tIns="45720" rIns="91440" bIns="45720" rtlCol="0" anchor="ctr">
            <a:normAutofit/>
          </a:bodyPr>
          <a:lstStyle/>
          <a:p>
            <a:pPr algn="r">
              <a:lnSpc>
                <a:spcPct val="90000"/>
              </a:lnSpc>
              <a:spcBef>
                <a:spcPts val="1000"/>
              </a:spcBef>
            </a:pPr>
            <a:r>
              <a:rPr lang="en-US" sz="2000" b="1" dirty="0"/>
              <a:t>w</a:t>
            </a:r>
            <a:r>
              <a:rPr lang="en-US" sz="2000" b="1" kern="1200" dirty="0">
                <a:solidFill>
                  <a:schemeClr val="tx1"/>
                </a:solidFill>
                <a:latin typeface="+mn-lt"/>
                <a:ea typeface="+mn-ea"/>
                <a:cs typeface="+mn-cs"/>
              </a:rPr>
              <a:t>ith Nicola </a:t>
            </a:r>
            <a:r>
              <a:rPr lang="en-US" sz="2000" b="1" kern="1200" dirty="0" err="1">
                <a:solidFill>
                  <a:schemeClr val="tx1"/>
                </a:solidFill>
                <a:latin typeface="+mn-lt"/>
                <a:ea typeface="+mn-ea"/>
                <a:cs typeface="+mn-cs"/>
              </a:rPr>
              <a:t>Piras</a:t>
            </a:r>
            <a:endParaRPr lang="en-US" sz="2000" kern="1200" dirty="0">
              <a:solidFill>
                <a:schemeClr val="tx1"/>
              </a:solidFill>
              <a:latin typeface="+mn-lt"/>
              <a:ea typeface="+mn-ea"/>
              <a:cs typeface="+mn-cs"/>
            </a:endParaRPr>
          </a:p>
        </p:txBody>
      </p:sp>
    </p:spTree>
    <p:extLst>
      <p:ext uri="{BB962C8B-B14F-4D97-AF65-F5344CB8AC3E}">
        <p14:creationId xmlns:p14="http://schemas.microsoft.com/office/powerpoint/2010/main" val="3807290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egnaposto contenuto 2">
            <a:extLst>
              <a:ext uri="{FF2B5EF4-FFF2-40B4-BE49-F238E27FC236}">
                <a16:creationId xmlns:a16="http://schemas.microsoft.com/office/drawing/2014/main" id="{55F4E262-E6E8-4B05-85B6-2DEAF532AD7F}"/>
              </a:ext>
            </a:extLst>
          </p:cNvPr>
          <p:cNvSpPr txBox="1">
            <a:spLocks/>
          </p:cNvSpPr>
          <p:nvPr/>
        </p:nvSpPr>
        <p:spPr>
          <a:xfrm>
            <a:off x="902025" y="1665201"/>
            <a:ext cx="10515600" cy="548741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it-IT" sz="4200" b="0" i="0" u="none" strike="noStrike" kern="1200" cap="none" spc="0" normalizeH="0" baseline="0" noProof="0" dirty="0">
              <a:ln>
                <a:noFill/>
              </a:ln>
              <a:solidFill>
                <a:prstClr val="black"/>
              </a:solidFill>
              <a:effectLst/>
              <a:uLnTx/>
              <a:uFillTx/>
              <a:latin typeface="Century"/>
              <a:ea typeface="+mn-ea"/>
              <a:cs typeface="Levenim MT"/>
            </a:endParaRPr>
          </a:p>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4200" b="0" i="0" u="none" strike="noStrike" kern="1200" cap="none" spc="0" normalizeH="0" baseline="0" noProof="0" dirty="0">
                <a:ln>
                  <a:noFill/>
                </a:ln>
                <a:solidFill>
                  <a:prstClr val="black"/>
                </a:solidFill>
                <a:effectLst/>
                <a:uLnTx/>
                <a:uFillTx/>
                <a:latin typeface="Century"/>
                <a:ea typeface="+mn-ea"/>
                <a:cs typeface="Levenim MT"/>
              </a:rPr>
              <a:t>SEMANTIC</a:t>
            </a:r>
          </a:p>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sz="4200" dirty="0">
                <a:solidFill>
                  <a:prstClr val="black"/>
                </a:solidFill>
                <a:latin typeface="Century"/>
                <a:cs typeface="Levenim MT"/>
              </a:rPr>
              <a:t>MESSINESS</a:t>
            </a:r>
            <a:endParaRPr kumimoji="0" lang="it-IT" sz="2400" b="0" i="0" u="none" strike="noStrike" kern="1200" cap="none" spc="0" normalizeH="0" baseline="0" noProof="0" dirty="0">
              <a:ln>
                <a:noFill/>
              </a:ln>
              <a:solidFill>
                <a:prstClr val="black"/>
              </a:solidFill>
              <a:effectLst/>
              <a:uLnTx/>
              <a:uFillTx/>
              <a:latin typeface="Calibri" panose="020F0502020204030204"/>
              <a:ea typeface="+mn-ea"/>
              <a:cs typeface="Calibri"/>
            </a:endParaRPr>
          </a:p>
          <a:p>
            <a:pPr marL="0" marR="0" lvl="0" indent="0"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it-IT" sz="4200" b="0" i="0" u="none" strike="noStrike" kern="1200" cap="none" spc="0" normalizeH="0" baseline="0" noProof="0" dirty="0">
              <a:ln>
                <a:noFill/>
              </a:ln>
              <a:solidFill>
                <a:prstClr val="black"/>
              </a:solidFill>
              <a:effectLst/>
              <a:uLnTx/>
              <a:uFillTx/>
              <a:latin typeface="Century"/>
              <a:ea typeface="+mn-ea"/>
              <a:cs typeface="Levenim MT"/>
            </a:endParaRPr>
          </a:p>
        </p:txBody>
      </p:sp>
    </p:spTree>
    <p:extLst>
      <p:ext uri="{BB962C8B-B14F-4D97-AF65-F5344CB8AC3E}">
        <p14:creationId xmlns:p14="http://schemas.microsoft.com/office/powerpoint/2010/main" val="1275647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Group 31">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33" name="Freeform: Shape 32">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id="{BD46994B-49B9-4686-58F7-E5224292B9C7}"/>
              </a:ext>
            </a:extLst>
          </p:cNvPr>
          <p:cNvPicPr>
            <a:picLocks noChangeAspect="1"/>
          </p:cNvPicPr>
          <p:nvPr/>
        </p:nvPicPr>
        <p:blipFill>
          <a:blip r:embed="rId2"/>
          <a:srcRect l="7359" r="4181"/>
          <a:stretch>
            <a:fillRect/>
          </a:stretch>
        </p:blipFill>
        <p:spPr>
          <a:xfrm>
            <a:off x="1143070" y="643467"/>
            <a:ext cx="9905859" cy="5571065"/>
          </a:xfrm>
          <a:prstGeom prst="rect">
            <a:avLst/>
          </a:prstGeom>
          <a:ln>
            <a:noFill/>
          </a:ln>
        </p:spPr>
      </p:pic>
    </p:spTree>
    <p:extLst>
      <p:ext uri="{BB962C8B-B14F-4D97-AF65-F5344CB8AC3E}">
        <p14:creationId xmlns:p14="http://schemas.microsoft.com/office/powerpoint/2010/main" val="289587177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3" name="Group 32">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34" name="Freeform: Shape 33">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text&#10;&#10;Description automatically generated">
            <a:extLst>
              <a:ext uri="{FF2B5EF4-FFF2-40B4-BE49-F238E27FC236}">
                <a16:creationId xmlns:a16="http://schemas.microsoft.com/office/drawing/2014/main" id="{C60CD3F0-964C-4646-D9D4-117C0403E49A}"/>
              </a:ext>
            </a:extLst>
          </p:cNvPr>
          <p:cNvPicPr>
            <a:picLocks noChangeAspect="1"/>
          </p:cNvPicPr>
          <p:nvPr/>
        </p:nvPicPr>
        <p:blipFill>
          <a:blip r:embed="rId2"/>
          <a:stretch>
            <a:fillRect/>
          </a:stretch>
        </p:blipFill>
        <p:spPr>
          <a:xfrm>
            <a:off x="643467" y="798153"/>
            <a:ext cx="10905066" cy="5261693"/>
          </a:xfrm>
          <a:prstGeom prst="rect">
            <a:avLst/>
          </a:prstGeom>
          <a:ln>
            <a:noFill/>
          </a:ln>
        </p:spPr>
      </p:pic>
    </p:spTree>
    <p:extLst>
      <p:ext uri="{BB962C8B-B14F-4D97-AF65-F5344CB8AC3E}">
        <p14:creationId xmlns:p14="http://schemas.microsoft.com/office/powerpoint/2010/main" val="478713901"/>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3" name="Group 32">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34" name="Freeform: Shape 33">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5BD96A9-3221-4C7A-1F8E-D94F20357CA3}"/>
              </a:ext>
            </a:extLst>
          </p:cNvPr>
          <p:cNvSpPr txBox="1"/>
          <p:nvPr/>
        </p:nvSpPr>
        <p:spPr>
          <a:xfrm>
            <a:off x="762000" y="2024743"/>
            <a:ext cx="10521320" cy="3139321"/>
          </a:xfrm>
          <a:prstGeom prst="rect">
            <a:avLst/>
          </a:prstGeom>
          <a:noFill/>
        </p:spPr>
        <p:txBody>
          <a:bodyPr wrap="square" rtlCol="0">
            <a:spAutoFit/>
          </a:bodyPr>
          <a:lstStyle/>
          <a:p>
            <a:pPr algn="ctr"/>
            <a:r>
              <a:rPr lang="en-IT" sz="3300" dirty="0"/>
              <a:t>Thus, </a:t>
            </a:r>
            <a:r>
              <a:rPr lang="en-GB" sz="3300" i="1" dirty="0"/>
              <a:t>there is no consensus on how much exactly goes to waste. According to Parfitt and colleagues, “Ranges between 10 and 40 percent of total global food production and as high as 50 percent are quoted, but on closer examination, these estimates all link back to the same limited primary datasets.”</a:t>
            </a:r>
            <a:endParaRPr lang="en-IT" sz="3300" i="1" dirty="0"/>
          </a:p>
        </p:txBody>
      </p:sp>
    </p:spTree>
    <p:extLst>
      <p:ext uri="{BB962C8B-B14F-4D97-AF65-F5344CB8AC3E}">
        <p14:creationId xmlns:p14="http://schemas.microsoft.com/office/powerpoint/2010/main" val="249378896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6" name="Segnaposto contenuto 2">
            <a:extLst>
              <a:ext uri="{FF2B5EF4-FFF2-40B4-BE49-F238E27FC236}">
                <a16:creationId xmlns:a16="http://schemas.microsoft.com/office/drawing/2014/main" id="{55F4E262-E6E8-4B05-85B6-2DEAF532AD7F}"/>
              </a:ext>
            </a:extLst>
          </p:cNvPr>
          <p:cNvSpPr txBox="1">
            <a:spLocks/>
          </p:cNvSpPr>
          <p:nvPr/>
        </p:nvSpPr>
        <p:spPr>
          <a:xfrm>
            <a:off x="902025" y="1665201"/>
            <a:ext cx="10515600" cy="548741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914377"/>
            <a:endParaRPr lang="it-IT" sz="4200" dirty="0">
              <a:solidFill>
                <a:prstClr val="black"/>
              </a:solidFill>
              <a:latin typeface="Century"/>
              <a:cs typeface="Levenim MT"/>
            </a:endParaRPr>
          </a:p>
          <a:p>
            <a:pPr defTabSz="914377"/>
            <a:r>
              <a:rPr lang="it-IT" sz="4200" dirty="0">
                <a:solidFill>
                  <a:prstClr val="black"/>
                </a:solidFill>
                <a:latin typeface="Century"/>
                <a:cs typeface="Levenim MT"/>
              </a:rPr>
              <a:t>TOWARDS </a:t>
            </a:r>
          </a:p>
          <a:p>
            <a:pPr defTabSz="914377"/>
            <a:r>
              <a:rPr lang="it-IT" sz="4200" dirty="0">
                <a:solidFill>
                  <a:prstClr val="black"/>
                </a:solidFill>
                <a:latin typeface="Century"/>
                <a:cs typeface="Levenim MT"/>
              </a:rPr>
              <a:t>A CONCEPTUAL SCHEME:</a:t>
            </a:r>
          </a:p>
          <a:p>
            <a:pPr defTabSz="914377"/>
            <a:r>
              <a:rPr lang="it-IT" sz="4200" dirty="0">
                <a:solidFill>
                  <a:prstClr val="black"/>
                </a:solidFill>
                <a:latin typeface="Century"/>
                <a:cs typeface="Levenim MT"/>
              </a:rPr>
              <a:t>EIGHT CRITERIA</a:t>
            </a:r>
            <a:endParaRPr lang="it-IT" dirty="0">
              <a:solidFill>
                <a:prstClr val="black"/>
              </a:solidFill>
              <a:latin typeface="Calibri" panose="020F0502020204030204"/>
              <a:cs typeface="Calibri"/>
            </a:endParaRPr>
          </a:p>
          <a:p>
            <a:pPr defTabSz="914377"/>
            <a:endParaRPr lang="it-IT" sz="4200" dirty="0">
              <a:solidFill>
                <a:prstClr val="black"/>
              </a:solidFill>
              <a:latin typeface="Century"/>
              <a:cs typeface="Levenim MT"/>
            </a:endParaRPr>
          </a:p>
        </p:txBody>
      </p:sp>
    </p:spTree>
    <p:extLst>
      <p:ext uri="{BB962C8B-B14F-4D97-AF65-F5344CB8AC3E}">
        <p14:creationId xmlns:p14="http://schemas.microsoft.com/office/powerpoint/2010/main" val="1005522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1. Reversibility</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items that at a point of their cycle, may later become non-waste again.</a:t>
            </a:r>
            <a:endParaRPr lang="en-US" sz="2500" dirty="0">
              <a:solidFill>
                <a:schemeClr val="bg1"/>
              </a:solidFill>
              <a:latin typeface="Century"/>
              <a:cs typeface="Levenim MT"/>
            </a:endParaRPr>
          </a:p>
          <a:p>
            <a:endParaRPr lang="en-IT" sz="2000" dirty="0">
              <a:solidFill>
                <a:schemeClr val="bg1"/>
              </a:solidFill>
            </a:endParaRPr>
          </a:p>
        </p:txBody>
      </p:sp>
    </p:spTree>
    <p:extLst>
      <p:ext uri="{BB962C8B-B14F-4D97-AF65-F5344CB8AC3E}">
        <p14:creationId xmlns:p14="http://schemas.microsoft.com/office/powerpoint/2010/main" val="3748621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2. Relationality</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items along with the specific relations that make those items food waste. </a:t>
            </a:r>
            <a:endParaRPr lang="en-IT" sz="2500" dirty="0">
              <a:solidFill>
                <a:schemeClr val="bg1"/>
              </a:solidFill>
            </a:endParaRPr>
          </a:p>
        </p:txBody>
      </p:sp>
    </p:spTree>
    <p:extLst>
      <p:ext uri="{BB962C8B-B14F-4D97-AF65-F5344CB8AC3E}">
        <p14:creationId xmlns:p14="http://schemas.microsoft.com/office/powerpoint/2010/main" val="3148759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3. </a:t>
            </a:r>
            <a:br>
              <a:rPr lang="en-US" sz="5600" dirty="0">
                <a:solidFill>
                  <a:schemeClr val="bg1"/>
                </a:solidFill>
                <a:latin typeface="Century"/>
                <a:cs typeface="Levenim MT"/>
              </a:rPr>
            </a:br>
            <a:r>
              <a:rPr lang="en-US" dirty="0">
                <a:solidFill>
                  <a:schemeClr val="bg1"/>
                </a:solidFill>
                <a:latin typeface="Century"/>
                <a:cs typeface="Levenim MT"/>
              </a:rPr>
              <a:t>Possibility</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items considering also their likelihood to become waste.</a:t>
            </a:r>
            <a:endParaRPr lang="en-IT" sz="2500" dirty="0">
              <a:solidFill>
                <a:schemeClr val="bg1"/>
              </a:solidFill>
            </a:endParaRPr>
          </a:p>
        </p:txBody>
      </p:sp>
    </p:spTree>
    <p:extLst>
      <p:ext uri="{BB962C8B-B14F-4D97-AF65-F5344CB8AC3E}">
        <p14:creationId xmlns:p14="http://schemas.microsoft.com/office/powerpoint/2010/main" val="3521867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4. </a:t>
            </a:r>
            <a:br>
              <a:rPr lang="en-US" dirty="0">
                <a:solidFill>
                  <a:schemeClr val="bg1"/>
                </a:solidFill>
                <a:latin typeface="Century"/>
                <a:cs typeface="Levenim MT"/>
              </a:rPr>
            </a:br>
            <a:r>
              <a:rPr lang="en-US" dirty="0">
                <a:solidFill>
                  <a:schemeClr val="bg1"/>
                </a:solidFill>
                <a:latin typeface="Century"/>
                <a:cs typeface="Levenim MT"/>
              </a:rPr>
              <a:t>Vagueness</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items whose status as “food waste” is sometimes undetermined.</a:t>
            </a:r>
            <a:endParaRPr lang="en-IT" sz="2500" dirty="0">
              <a:solidFill>
                <a:schemeClr val="bg1"/>
              </a:solidFill>
            </a:endParaRPr>
          </a:p>
        </p:txBody>
      </p:sp>
    </p:spTree>
    <p:extLst>
      <p:ext uri="{BB962C8B-B14F-4D97-AF65-F5344CB8AC3E}">
        <p14:creationId xmlns:p14="http://schemas.microsoft.com/office/powerpoint/2010/main" val="2527809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5. </a:t>
            </a:r>
            <a:br>
              <a:rPr lang="en-US" dirty="0">
                <a:solidFill>
                  <a:schemeClr val="bg1"/>
                </a:solidFill>
                <a:latin typeface="Century"/>
                <a:cs typeface="Levenim MT"/>
              </a:rPr>
            </a:br>
            <a:r>
              <a:rPr lang="en-US" dirty="0">
                <a:solidFill>
                  <a:schemeClr val="bg1"/>
                </a:solidFill>
                <a:latin typeface="Century"/>
                <a:cs typeface="Levenim MT"/>
              </a:rPr>
              <a:t>Value-Sensitivity</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the value judgments involved in terming something as “food waste.” </a:t>
            </a:r>
            <a:endParaRPr lang="en-IT" sz="2500" dirty="0">
              <a:solidFill>
                <a:schemeClr val="bg1"/>
              </a:solidFill>
            </a:endParaRPr>
          </a:p>
        </p:txBody>
      </p:sp>
    </p:spTree>
    <p:extLst>
      <p:ext uri="{BB962C8B-B14F-4D97-AF65-F5344CB8AC3E}">
        <p14:creationId xmlns:p14="http://schemas.microsoft.com/office/powerpoint/2010/main" val="1465927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6. </a:t>
            </a:r>
            <a:br>
              <a:rPr lang="en-US" dirty="0">
                <a:solidFill>
                  <a:schemeClr val="bg1"/>
                </a:solidFill>
                <a:latin typeface="Century"/>
                <a:cs typeface="Levenim MT"/>
              </a:rPr>
            </a:br>
            <a:r>
              <a:rPr lang="en-US" dirty="0" err="1">
                <a:solidFill>
                  <a:schemeClr val="bg1"/>
                </a:solidFill>
                <a:latin typeface="Century"/>
                <a:cs typeface="Levenim MT"/>
              </a:rPr>
              <a:t>Agentivity</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all the different kinds of agents related to the production of food waste who can be aware, unaware, identifiable, unidentifiable, human or non-human; who can have different beliefs, perspectives, and ends in regard to food waste.</a:t>
            </a:r>
          </a:p>
          <a:p>
            <a:endParaRPr lang="en-IT" sz="2000" dirty="0">
              <a:solidFill>
                <a:schemeClr val="bg1"/>
              </a:solidFill>
            </a:endParaRPr>
          </a:p>
        </p:txBody>
      </p:sp>
    </p:spTree>
    <p:extLst>
      <p:ext uri="{BB962C8B-B14F-4D97-AF65-F5344CB8AC3E}">
        <p14:creationId xmlns:p14="http://schemas.microsoft.com/office/powerpoint/2010/main" val="1167403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7. Exceptionality</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those exceptional cases where food waste can change its meaning failing to apply to usual items. </a:t>
            </a:r>
          </a:p>
          <a:p>
            <a:endParaRPr lang="en-IT" sz="2000" dirty="0">
              <a:solidFill>
                <a:schemeClr val="bg1"/>
              </a:solidFill>
            </a:endParaRPr>
          </a:p>
        </p:txBody>
      </p:sp>
    </p:spTree>
    <p:extLst>
      <p:ext uri="{BB962C8B-B14F-4D97-AF65-F5344CB8AC3E}">
        <p14:creationId xmlns:p14="http://schemas.microsoft.com/office/powerpoint/2010/main" val="988622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154E119-B5BA-119A-5B77-CC4CCAAE963D}"/>
              </a:ext>
            </a:extLst>
          </p:cNvPr>
          <p:cNvSpPr>
            <a:spLocks noGrp="1"/>
          </p:cNvSpPr>
          <p:nvPr>
            <p:ph type="title"/>
          </p:nvPr>
        </p:nvSpPr>
        <p:spPr>
          <a:xfrm>
            <a:off x="1014141" y="1450655"/>
            <a:ext cx="3932030" cy="3956690"/>
          </a:xfrm>
        </p:spPr>
        <p:txBody>
          <a:bodyPr anchor="ctr">
            <a:normAutofit/>
          </a:bodyPr>
          <a:lstStyle/>
          <a:p>
            <a:pPr algn="ctr"/>
            <a:r>
              <a:rPr lang="en-US" dirty="0">
                <a:solidFill>
                  <a:schemeClr val="bg1"/>
                </a:solidFill>
                <a:latin typeface="Century"/>
                <a:cs typeface="Levenim MT"/>
              </a:rPr>
              <a:t>8. </a:t>
            </a:r>
            <a:br>
              <a:rPr lang="en-US" dirty="0">
                <a:solidFill>
                  <a:schemeClr val="bg1"/>
                </a:solidFill>
                <a:latin typeface="Century"/>
                <a:cs typeface="Levenim MT"/>
              </a:rPr>
            </a:br>
            <a:r>
              <a:rPr lang="en-US" dirty="0">
                <a:solidFill>
                  <a:schemeClr val="bg1"/>
                </a:solidFill>
                <a:latin typeface="Century"/>
                <a:cs typeface="Levenim MT"/>
              </a:rPr>
              <a:t>Luck</a:t>
            </a:r>
            <a:br>
              <a:rPr lang="en-US" dirty="0">
                <a:solidFill>
                  <a:schemeClr val="bg1"/>
                </a:solidFill>
                <a:latin typeface="Century"/>
                <a:cs typeface="Levenim MT"/>
              </a:rPr>
            </a:br>
            <a:endParaRPr lang="en-IT" dirty="0">
              <a:solidFill>
                <a:schemeClr val="bg1"/>
              </a:solidFill>
            </a:endParaRPr>
          </a:p>
        </p:txBody>
      </p:sp>
      <p:cxnSp>
        <p:nvCxnSpPr>
          <p:cNvPr id="17" name="Straight Connector 16">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930DC3-B14B-2197-9C47-FDEA99C92472}"/>
              </a:ext>
            </a:extLst>
          </p:cNvPr>
          <p:cNvSpPr>
            <a:spLocks noGrp="1"/>
          </p:cNvSpPr>
          <p:nvPr>
            <p:ph idx="1"/>
          </p:nvPr>
        </p:nvSpPr>
        <p:spPr>
          <a:xfrm>
            <a:off x="6096000" y="1108061"/>
            <a:ext cx="5008901" cy="4571972"/>
          </a:xfrm>
        </p:spPr>
        <p:txBody>
          <a:bodyPr anchor="ctr">
            <a:normAutofit/>
          </a:bodyPr>
          <a:lstStyle/>
          <a:p>
            <a:pPr marL="0" indent="0">
              <a:buNone/>
            </a:pPr>
            <a:r>
              <a:rPr lang="en-GB" sz="2500" b="0" i="0" u="none" strike="noStrike" dirty="0">
                <a:solidFill>
                  <a:schemeClr val="bg1"/>
                </a:solidFill>
                <a:effectLst/>
                <a:latin typeface="Garamond" panose="02020404030301010803" pitchFamily="18" charset="0"/>
              </a:rPr>
              <a:t>A food waste definition should account for factors beyond human control which are not predictable and thus unavoidable.</a:t>
            </a:r>
          </a:p>
          <a:p>
            <a:endParaRPr lang="en-IT" sz="2000" dirty="0">
              <a:solidFill>
                <a:schemeClr val="bg1"/>
              </a:solidFill>
            </a:endParaRPr>
          </a:p>
        </p:txBody>
      </p:sp>
    </p:spTree>
    <p:extLst>
      <p:ext uri="{BB962C8B-B14F-4D97-AF65-F5344CB8AC3E}">
        <p14:creationId xmlns:p14="http://schemas.microsoft.com/office/powerpoint/2010/main" val="921032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6" name="Segnaposto contenuto 2">
            <a:extLst>
              <a:ext uri="{FF2B5EF4-FFF2-40B4-BE49-F238E27FC236}">
                <a16:creationId xmlns:a16="http://schemas.microsoft.com/office/drawing/2014/main" id="{55F4E262-E6E8-4B05-85B6-2DEAF532AD7F}"/>
              </a:ext>
            </a:extLst>
          </p:cNvPr>
          <p:cNvSpPr txBox="1">
            <a:spLocks/>
          </p:cNvSpPr>
          <p:nvPr/>
        </p:nvSpPr>
        <p:spPr>
          <a:xfrm>
            <a:off x="902025" y="1665201"/>
            <a:ext cx="10515600" cy="548741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914377"/>
            <a:endParaRPr lang="it-IT" sz="4200" dirty="0">
              <a:solidFill>
                <a:prstClr val="black"/>
              </a:solidFill>
              <a:latin typeface="Century"/>
              <a:cs typeface="Levenim MT"/>
            </a:endParaRPr>
          </a:p>
          <a:p>
            <a:pPr defTabSz="914377"/>
            <a:r>
              <a:rPr lang="it-IT" sz="4200" dirty="0">
                <a:solidFill>
                  <a:prstClr val="black"/>
                </a:solidFill>
                <a:latin typeface="Century"/>
                <a:cs typeface="Levenim MT"/>
              </a:rPr>
              <a:t>THREE</a:t>
            </a:r>
          </a:p>
          <a:p>
            <a:pPr defTabSz="914377"/>
            <a:r>
              <a:rPr lang="it-IT" sz="4200" dirty="0">
                <a:solidFill>
                  <a:prstClr val="black"/>
                </a:solidFill>
                <a:latin typeface="Century"/>
                <a:cs typeface="Levenim MT"/>
              </a:rPr>
              <a:t>SEMANTIC </a:t>
            </a:r>
          </a:p>
          <a:p>
            <a:pPr defTabSz="914377"/>
            <a:r>
              <a:rPr lang="it-IT" sz="4200" dirty="0">
                <a:solidFill>
                  <a:prstClr val="black"/>
                </a:solidFill>
                <a:latin typeface="Century"/>
                <a:cs typeface="Levenim MT"/>
              </a:rPr>
              <a:t>PERSPECTIVES</a:t>
            </a:r>
            <a:endParaRPr lang="it-IT" dirty="0">
              <a:solidFill>
                <a:prstClr val="black"/>
              </a:solidFill>
              <a:latin typeface="Calibri" panose="020F0502020204030204"/>
              <a:cs typeface="Calibri"/>
            </a:endParaRPr>
          </a:p>
          <a:p>
            <a:pPr defTabSz="914377"/>
            <a:endParaRPr lang="it-IT" sz="4200" dirty="0">
              <a:solidFill>
                <a:prstClr val="black"/>
              </a:solidFill>
              <a:latin typeface="Century"/>
              <a:cs typeface="Levenim MT"/>
            </a:endParaRPr>
          </a:p>
        </p:txBody>
      </p:sp>
    </p:spTree>
    <p:extLst>
      <p:ext uri="{BB962C8B-B14F-4D97-AF65-F5344CB8AC3E}">
        <p14:creationId xmlns:p14="http://schemas.microsoft.com/office/powerpoint/2010/main" val="1163590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3" name="Title 2">
            <a:extLst>
              <a:ext uri="{FF2B5EF4-FFF2-40B4-BE49-F238E27FC236}">
                <a16:creationId xmlns:a16="http://schemas.microsoft.com/office/drawing/2014/main" id="{3C901EB4-F579-0A11-6C2D-DDFCD4B7F4A7}"/>
              </a:ext>
            </a:extLst>
          </p:cNvPr>
          <p:cNvSpPr>
            <a:spLocks noGrp="1"/>
          </p:cNvSpPr>
          <p:nvPr>
            <p:ph type="title"/>
          </p:nvPr>
        </p:nvSpPr>
        <p:spPr>
          <a:xfrm>
            <a:off x="716278" y="469330"/>
            <a:ext cx="10515600" cy="1325563"/>
          </a:xfrm>
        </p:spPr>
        <p:txBody>
          <a:bodyPr/>
          <a:lstStyle/>
          <a:p>
            <a:pPr algn="ctr"/>
            <a:r>
              <a:rPr lang="it-IT" sz="4400" dirty="0">
                <a:solidFill>
                  <a:prstClr val="black"/>
                </a:solidFill>
                <a:latin typeface="Century"/>
                <a:cs typeface="Levenim MT"/>
              </a:rPr>
              <a:t>1. SUBSTANTIVALISM</a:t>
            </a:r>
            <a:br>
              <a:rPr lang="it-IT" dirty="0">
                <a:solidFill>
                  <a:prstClr val="black"/>
                </a:solidFill>
                <a:latin typeface="Calibri" panose="020F0502020204030204"/>
                <a:cs typeface="Calibri"/>
              </a:rPr>
            </a:br>
            <a:endParaRPr lang="en-IT" dirty="0"/>
          </a:p>
        </p:txBody>
      </p:sp>
      <p:graphicFrame>
        <p:nvGraphicFramePr>
          <p:cNvPr id="8" name="Segnaposto contenuto 2">
            <a:extLst>
              <a:ext uri="{FF2B5EF4-FFF2-40B4-BE49-F238E27FC236}">
                <a16:creationId xmlns:a16="http://schemas.microsoft.com/office/drawing/2014/main" id="{789C8D5D-F01E-C335-FE27-643A8D572F7B}"/>
              </a:ext>
            </a:extLst>
          </p:cNvPr>
          <p:cNvGraphicFramePr/>
          <p:nvPr>
            <p:extLst>
              <p:ext uri="{D42A27DB-BD31-4B8C-83A1-F6EECF244321}">
                <p14:modId xmlns:p14="http://schemas.microsoft.com/office/powerpoint/2010/main" val="942797802"/>
              </p:ext>
            </p:extLst>
          </p:nvPr>
        </p:nvGraphicFramePr>
        <p:xfrm>
          <a:off x="960122" y="1425717"/>
          <a:ext cx="10515600" cy="4539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66999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D2AA15-EF55-F832-92FE-9FCD09A5C6D2}"/>
              </a:ext>
            </a:extLst>
          </p:cNvPr>
          <p:cNvSpPr>
            <a:spLocks noGrp="1"/>
          </p:cNvSpPr>
          <p:nvPr>
            <p:ph idx="1"/>
          </p:nvPr>
        </p:nvSpPr>
        <p:spPr>
          <a:xfrm>
            <a:off x="1392667" y="2398957"/>
            <a:ext cx="9406666" cy="3526144"/>
          </a:xfrm>
        </p:spPr>
        <p:txBody>
          <a:bodyPr>
            <a:normAutofit/>
          </a:bodyPr>
          <a:lstStyle/>
          <a:p>
            <a:pPr marL="0" indent="0" algn="ctr">
              <a:buNone/>
            </a:pPr>
            <a:r>
              <a:rPr lang="en-GB" sz="2700" i="1" dirty="0">
                <a:solidFill>
                  <a:schemeClr val="bg1"/>
                </a:solidFill>
                <a:effectLst/>
                <a:latin typeface="Helvetica Neue" panose="02000503000000020004" pitchFamily="2" charset="0"/>
              </a:rPr>
              <a:t>At the food-systems level, for example, crop over-production could be considered as a source of food loss or as a mechanism to</a:t>
            </a:r>
            <a:r>
              <a:rPr lang="en-GB" sz="2700" dirty="0">
                <a:solidFill>
                  <a:schemeClr val="bg1"/>
                </a:solidFill>
                <a:latin typeface="Helvetica Neue" panose="02000503000000020004" pitchFamily="2" charset="0"/>
              </a:rPr>
              <a:t> </a:t>
            </a:r>
            <a:r>
              <a:rPr lang="en-GB" sz="2700" i="1" dirty="0">
                <a:solidFill>
                  <a:schemeClr val="bg1"/>
                </a:solidFill>
                <a:effectLst/>
                <a:latin typeface="Helvetica Neue" panose="02000503000000020004" pitchFamily="2" charset="0"/>
              </a:rPr>
              <a:t>strengthen food security. Substantivalism lacks the theoretical resources to report that the discarded good is loss only according to one of the two positions, because it is committed to a uniqueness assumption.</a:t>
            </a:r>
            <a:endParaRPr lang="en-GB" sz="2700" dirty="0">
              <a:solidFill>
                <a:schemeClr val="bg1"/>
              </a:solidFill>
              <a:effectLst/>
              <a:latin typeface="Helvetica Neue" panose="02000503000000020004" pitchFamily="2" charset="0"/>
            </a:endParaRPr>
          </a:p>
          <a:p>
            <a:endParaRPr lang="en-IT"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9915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3" name="Title 2">
            <a:extLst>
              <a:ext uri="{FF2B5EF4-FFF2-40B4-BE49-F238E27FC236}">
                <a16:creationId xmlns:a16="http://schemas.microsoft.com/office/drawing/2014/main" id="{3C901EB4-F579-0A11-6C2D-DDFCD4B7F4A7}"/>
              </a:ext>
            </a:extLst>
          </p:cNvPr>
          <p:cNvSpPr>
            <a:spLocks noGrp="1"/>
          </p:cNvSpPr>
          <p:nvPr>
            <p:ph type="title"/>
          </p:nvPr>
        </p:nvSpPr>
        <p:spPr>
          <a:xfrm>
            <a:off x="838200" y="343354"/>
            <a:ext cx="10515600" cy="1325563"/>
          </a:xfrm>
        </p:spPr>
        <p:txBody>
          <a:bodyPr/>
          <a:lstStyle/>
          <a:p>
            <a:pPr algn="ctr"/>
            <a:r>
              <a:rPr lang="it-IT" dirty="0">
                <a:solidFill>
                  <a:prstClr val="black"/>
                </a:solidFill>
                <a:latin typeface="Century"/>
                <a:cs typeface="Levenim MT"/>
              </a:rPr>
              <a:t>2</a:t>
            </a:r>
            <a:r>
              <a:rPr lang="it-IT" sz="4400" dirty="0">
                <a:solidFill>
                  <a:prstClr val="black"/>
                </a:solidFill>
                <a:latin typeface="Century"/>
                <a:cs typeface="Levenim MT"/>
              </a:rPr>
              <a:t>. ADJECTIVALISM</a:t>
            </a:r>
            <a:br>
              <a:rPr lang="it-IT" dirty="0">
                <a:solidFill>
                  <a:prstClr val="black"/>
                </a:solidFill>
                <a:latin typeface="Calibri" panose="020F0502020204030204"/>
                <a:cs typeface="Calibri"/>
              </a:rPr>
            </a:br>
            <a:endParaRPr lang="en-IT" dirty="0"/>
          </a:p>
        </p:txBody>
      </p:sp>
      <p:graphicFrame>
        <p:nvGraphicFramePr>
          <p:cNvPr id="7" name="TextBox 4">
            <a:extLst>
              <a:ext uri="{FF2B5EF4-FFF2-40B4-BE49-F238E27FC236}">
                <a16:creationId xmlns:a16="http://schemas.microsoft.com/office/drawing/2014/main" id="{79BD1345-A705-3067-9E94-66E05504C8A8}"/>
              </a:ext>
            </a:extLst>
          </p:cNvPr>
          <p:cNvGraphicFramePr/>
          <p:nvPr>
            <p:extLst>
              <p:ext uri="{D42A27DB-BD31-4B8C-83A1-F6EECF244321}">
                <p14:modId xmlns:p14="http://schemas.microsoft.com/office/powerpoint/2010/main" val="2627908435"/>
              </p:ext>
            </p:extLst>
          </p:nvPr>
        </p:nvGraphicFramePr>
        <p:xfrm>
          <a:off x="838200" y="1186637"/>
          <a:ext cx="10515600" cy="44847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0589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3" name="Title 2">
            <a:extLst>
              <a:ext uri="{FF2B5EF4-FFF2-40B4-BE49-F238E27FC236}">
                <a16:creationId xmlns:a16="http://schemas.microsoft.com/office/drawing/2014/main" id="{3C901EB4-F579-0A11-6C2D-DDFCD4B7F4A7}"/>
              </a:ext>
            </a:extLst>
          </p:cNvPr>
          <p:cNvSpPr>
            <a:spLocks noGrp="1"/>
          </p:cNvSpPr>
          <p:nvPr>
            <p:ph type="title"/>
          </p:nvPr>
        </p:nvSpPr>
        <p:spPr>
          <a:xfrm>
            <a:off x="838200" y="343354"/>
            <a:ext cx="10515600" cy="1325563"/>
          </a:xfrm>
        </p:spPr>
        <p:txBody>
          <a:bodyPr/>
          <a:lstStyle/>
          <a:p>
            <a:pPr algn="ctr"/>
            <a:r>
              <a:rPr lang="it-IT" sz="4400" dirty="0">
                <a:solidFill>
                  <a:prstClr val="black"/>
                </a:solidFill>
                <a:latin typeface="Century"/>
                <a:cs typeface="Levenim MT"/>
              </a:rPr>
              <a:t>3. ADVERBALISM</a:t>
            </a:r>
            <a:br>
              <a:rPr lang="it-IT" dirty="0">
                <a:solidFill>
                  <a:prstClr val="black"/>
                </a:solidFill>
                <a:latin typeface="Calibri" panose="020F0502020204030204"/>
                <a:cs typeface="Calibri"/>
              </a:rPr>
            </a:br>
            <a:endParaRPr lang="en-IT" dirty="0"/>
          </a:p>
        </p:txBody>
      </p:sp>
      <p:sp>
        <p:nvSpPr>
          <p:cNvPr id="4" name="TextBox 3">
            <a:extLst>
              <a:ext uri="{FF2B5EF4-FFF2-40B4-BE49-F238E27FC236}">
                <a16:creationId xmlns:a16="http://schemas.microsoft.com/office/drawing/2014/main" id="{4AB9D341-4DA7-AFC1-22D2-838D513F520F}"/>
              </a:ext>
            </a:extLst>
          </p:cNvPr>
          <p:cNvSpPr txBox="1"/>
          <p:nvPr/>
        </p:nvSpPr>
        <p:spPr>
          <a:xfrm>
            <a:off x="838200" y="1695867"/>
            <a:ext cx="10515600" cy="1615827"/>
          </a:xfrm>
          <a:prstGeom prst="rect">
            <a:avLst/>
          </a:prstGeom>
          <a:noFill/>
        </p:spPr>
        <p:txBody>
          <a:bodyPr wrap="square" rtlCol="0">
            <a:spAutoFit/>
          </a:bodyPr>
          <a:lstStyle/>
          <a:p>
            <a:pPr algn="ctr"/>
            <a:r>
              <a:rPr lang="en-GB" sz="2700" i="1" dirty="0" err="1">
                <a:solidFill>
                  <a:schemeClr val="bg1"/>
                </a:solidFill>
                <a:effectLst/>
                <a:latin typeface="Times"/>
              </a:rPr>
              <a:t>Adverbialism</a:t>
            </a:r>
            <a:r>
              <a:rPr lang="en-GB" sz="2700" i="1" dirty="0">
                <a:solidFill>
                  <a:schemeClr val="bg1"/>
                </a:solidFill>
                <a:effectLst/>
                <a:latin typeface="Times"/>
              </a:rPr>
              <a:t> amends the language of the theory by introducing an</a:t>
            </a:r>
            <a:r>
              <a:rPr lang="en-GB" sz="2700" dirty="0">
                <a:solidFill>
                  <a:schemeClr val="bg1"/>
                </a:solidFill>
                <a:latin typeface="Times"/>
              </a:rPr>
              <a:t> </a:t>
            </a:r>
            <a:r>
              <a:rPr lang="en-GB" sz="2700" i="1" dirty="0">
                <a:solidFill>
                  <a:schemeClr val="bg1"/>
                </a:solidFill>
                <a:effectLst/>
                <a:latin typeface="Times"/>
              </a:rPr>
              <a:t>ad hoc adverb, such as ‘wasting’, and replacing every occurrence of</a:t>
            </a:r>
            <a:r>
              <a:rPr lang="en-GB" sz="2700" dirty="0">
                <a:solidFill>
                  <a:schemeClr val="bg1"/>
                </a:solidFill>
                <a:latin typeface="Times"/>
              </a:rPr>
              <a:t> </a:t>
            </a:r>
            <a:r>
              <a:rPr lang="en-GB" sz="2700" i="1" dirty="0">
                <a:solidFill>
                  <a:schemeClr val="bg1"/>
                </a:solidFill>
                <a:effectLst/>
                <a:latin typeface="Times"/>
              </a:rPr>
              <a:t>‘waste’ with its adverbial counterpart, according to a specified translation</a:t>
            </a:r>
            <a:r>
              <a:rPr lang="en-GB" sz="2700" dirty="0">
                <a:solidFill>
                  <a:schemeClr val="bg1"/>
                </a:solidFill>
                <a:latin typeface="Times"/>
              </a:rPr>
              <a:t> </a:t>
            </a:r>
            <a:r>
              <a:rPr lang="en-GB" sz="2700" i="1" dirty="0">
                <a:solidFill>
                  <a:schemeClr val="bg1"/>
                </a:solidFill>
                <a:effectLst/>
                <a:latin typeface="Times"/>
              </a:rPr>
              <a:t>schema.</a:t>
            </a:r>
            <a:endParaRPr lang="en-GB" sz="2700" dirty="0">
              <a:solidFill>
                <a:schemeClr val="bg1"/>
              </a:solidFill>
              <a:effectLst/>
              <a:latin typeface="Times"/>
            </a:endParaRPr>
          </a:p>
          <a:p>
            <a:endParaRPr lang="en-IT" dirty="0">
              <a:solidFill>
                <a:schemeClr val="bg1"/>
              </a:solidFill>
            </a:endParaRPr>
          </a:p>
        </p:txBody>
      </p:sp>
    </p:spTree>
    <p:extLst>
      <p:ext uri="{BB962C8B-B14F-4D97-AF65-F5344CB8AC3E}">
        <p14:creationId xmlns:p14="http://schemas.microsoft.com/office/powerpoint/2010/main" val="2946214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6" name="Segnaposto contenuto 2">
            <a:extLst>
              <a:ext uri="{FF2B5EF4-FFF2-40B4-BE49-F238E27FC236}">
                <a16:creationId xmlns:a16="http://schemas.microsoft.com/office/drawing/2014/main" id="{55F4E262-E6E8-4B05-85B6-2DEAF532AD7F}"/>
              </a:ext>
            </a:extLst>
          </p:cNvPr>
          <p:cNvSpPr txBox="1">
            <a:spLocks/>
          </p:cNvSpPr>
          <p:nvPr/>
        </p:nvSpPr>
        <p:spPr>
          <a:xfrm>
            <a:off x="902025" y="1665201"/>
            <a:ext cx="10515600" cy="5487415"/>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914377"/>
            <a:endParaRPr lang="it-IT" sz="4200" dirty="0">
              <a:solidFill>
                <a:prstClr val="black"/>
              </a:solidFill>
              <a:latin typeface="Century"/>
              <a:cs typeface="Levenim MT"/>
            </a:endParaRPr>
          </a:p>
          <a:p>
            <a:pPr defTabSz="914377"/>
            <a:r>
              <a:rPr lang="it-IT" sz="4200" dirty="0">
                <a:solidFill>
                  <a:prstClr val="black"/>
                </a:solidFill>
                <a:latin typeface="Century"/>
                <a:cs typeface="Levenim MT"/>
              </a:rPr>
              <a:t>DEVELOPING </a:t>
            </a:r>
          </a:p>
          <a:p>
            <a:pPr defTabSz="914377"/>
            <a:r>
              <a:rPr lang="it-IT" sz="4200" dirty="0">
                <a:solidFill>
                  <a:prstClr val="black"/>
                </a:solidFill>
                <a:latin typeface="Century"/>
                <a:cs typeface="Levenim MT"/>
              </a:rPr>
              <a:t>ADVERBIALISM:</a:t>
            </a:r>
          </a:p>
          <a:p>
            <a:pPr defTabSz="914377"/>
            <a:r>
              <a:rPr lang="it-IT" sz="4200" dirty="0" err="1">
                <a:solidFill>
                  <a:prstClr val="black"/>
                </a:solidFill>
                <a:latin typeface="Century"/>
                <a:cs typeface="Levenim MT"/>
              </a:rPr>
              <a:t>adverbial</a:t>
            </a:r>
            <a:r>
              <a:rPr lang="it-IT" sz="4200" dirty="0">
                <a:solidFill>
                  <a:prstClr val="black"/>
                </a:solidFill>
                <a:latin typeface="Century"/>
                <a:cs typeface="Levenim MT"/>
              </a:rPr>
              <a:t> </a:t>
            </a:r>
            <a:r>
              <a:rPr lang="it-IT" sz="4200" dirty="0" err="1">
                <a:solidFill>
                  <a:prstClr val="black"/>
                </a:solidFill>
                <a:latin typeface="Century"/>
                <a:cs typeface="Levenim MT"/>
              </a:rPr>
              <a:t>modifier</a:t>
            </a:r>
            <a:endParaRPr lang="it-IT" dirty="0">
              <a:solidFill>
                <a:prstClr val="black"/>
              </a:solidFill>
              <a:latin typeface="Calibri" panose="020F0502020204030204"/>
              <a:cs typeface="Calibri"/>
            </a:endParaRPr>
          </a:p>
          <a:p>
            <a:pPr defTabSz="914377"/>
            <a:endParaRPr lang="it-IT" sz="4200" dirty="0">
              <a:solidFill>
                <a:prstClr val="black"/>
              </a:solidFill>
              <a:latin typeface="Century"/>
              <a:cs typeface="Levenim MT"/>
            </a:endParaRPr>
          </a:p>
        </p:txBody>
      </p:sp>
    </p:spTree>
    <p:extLst>
      <p:ext uri="{BB962C8B-B14F-4D97-AF65-F5344CB8AC3E}">
        <p14:creationId xmlns:p14="http://schemas.microsoft.com/office/powerpoint/2010/main" val="581847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3" name="Title 2">
            <a:extLst>
              <a:ext uri="{FF2B5EF4-FFF2-40B4-BE49-F238E27FC236}">
                <a16:creationId xmlns:a16="http://schemas.microsoft.com/office/drawing/2014/main" id="{3C901EB4-F579-0A11-6C2D-DDFCD4B7F4A7}"/>
              </a:ext>
            </a:extLst>
          </p:cNvPr>
          <p:cNvSpPr>
            <a:spLocks noGrp="1"/>
          </p:cNvSpPr>
          <p:nvPr>
            <p:ph type="title"/>
          </p:nvPr>
        </p:nvSpPr>
        <p:spPr>
          <a:xfrm>
            <a:off x="838200" y="343354"/>
            <a:ext cx="10515600" cy="1325563"/>
          </a:xfrm>
        </p:spPr>
        <p:txBody>
          <a:bodyPr/>
          <a:lstStyle/>
          <a:p>
            <a:pPr algn="ctr"/>
            <a:r>
              <a:rPr lang="it-IT" sz="4400" dirty="0">
                <a:solidFill>
                  <a:prstClr val="black"/>
                </a:solidFill>
                <a:latin typeface="Century"/>
                <a:cs typeface="Levenim MT"/>
              </a:rPr>
              <a:t>THREE OPTIONS</a:t>
            </a:r>
            <a:endParaRPr lang="en-IT" dirty="0"/>
          </a:p>
        </p:txBody>
      </p:sp>
      <p:sp>
        <p:nvSpPr>
          <p:cNvPr id="4" name="TextBox 3">
            <a:extLst>
              <a:ext uri="{FF2B5EF4-FFF2-40B4-BE49-F238E27FC236}">
                <a16:creationId xmlns:a16="http://schemas.microsoft.com/office/drawing/2014/main" id="{4AB9D341-4DA7-AFC1-22D2-838D513F520F}"/>
              </a:ext>
            </a:extLst>
          </p:cNvPr>
          <p:cNvSpPr txBox="1"/>
          <p:nvPr/>
        </p:nvSpPr>
        <p:spPr>
          <a:xfrm>
            <a:off x="838200" y="1695867"/>
            <a:ext cx="10515600" cy="3000821"/>
          </a:xfrm>
          <a:prstGeom prst="rect">
            <a:avLst/>
          </a:prstGeom>
          <a:noFill/>
        </p:spPr>
        <p:txBody>
          <a:bodyPr wrap="square" rtlCol="0">
            <a:spAutoFit/>
          </a:bodyPr>
          <a:lstStyle/>
          <a:p>
            <a:pPr marL="457200" indent="-457200">
              <a:buAutoNum type="arabicPeriod"/>
            </a:pPr>
            <a:r>
              <a:rPr lang="en-IT" sz="2700" dirty="0">
                <a:solidFill>
                  <a:schemeClr val="bg1"/>
                </a:solidFill>
              </a:rPr>
              <a:t>NOUN-MODIFIER: </a:t>
            </a:r>
            <a:r>
              <a:rPr lang="en-GB" sz="2700" dirty="0">
                <a:solidFill>
                  <a:schemeClr val="bg1"/>
                </a:solidFill>
              </a:rPr>
              <a:t>‘there is a </a:t>
            </a:r>
            <a:r>
              <a:rPr lang="en-GB" sz="2700" b="1" dirty="0">
                <a:solidFill>
                  <a:schemeClr val="bg1"/>
                </a:solidFill>
              </a:rPr>
              <a:t>wasting banana </a:t>
            </a:r>
            <a:r>
              <a:rPr lang="en-GB" sz="2700" dirty="0">
                <a:solidFill>
                  <a:schemeClr val="bg1"/>
                </a:solidFill>
              </a:rPr>
              <a:t>in the fridge’</a:t>
            </a:r>
          </a:p>
          <a:p>
            <a:pPr marL="457200" indent="-457200">
              <a:buAutoNum type="arabicPeriod"/>
            </a:pPr>
            <a:r>
              <a:rPr lang="en-IT" sz="2700" dirty="0">
                <a:solidFill>
                  <a:schemeClr val="bg1"/>
                </a:solidFill>
              </a:rPr>
              <a:t>PREDICATE-MODIFIER: </a:t>
            </a:r>
            <a:r>
              <a:rPr lang="en-GB" sz="2700" dirty="0">
                <a:solidFill>
                  <a:schemeClr val="bg1"/>
                </a:solidFill>
              </a:rPr>
              <a:t>‘there </a:t>
            </a:r>
            <a:r>
              <a:rPr lang="en-GB" sz="2700" b="1" dirty="0">
                <a:solidFill>
                  <a:schemeClr val="bg1"/>
                </a:solidFill>
              </a:rPr>
              <a:t>wasting is</a:t>
            </a:r>
            <a:r>
              <a:rPr lang="en-GB" sz="2700" dirty="0">
                <a:solidFill>
                  <a:schemeClr val="bg1"/>
                </a:solidFill>
              </a:rPr>
              <a:t> a banana in the fridge</a:t>
            </a:r>
          </a:p>
          <a:p>
            <a:pPr marL="457200" indent="-457200">
              <a:buAutoNum type="arabicPeriod"/>
            </a:pPr>
            <a:r>
              <a:rPr lang="en-GB" sz="2700" dirty="0">
                <a:solidFill>
                  <a:schemeClr val="bg1"/>
                </a:solidFill>
              </a:rPr>
              <a:t>SENTENCIAL MODIFIER: ‘</a:t>
            </a:r>
            <a:r>
              <a:rPr lang="en-GB" sz="2700" b="1" dirty="0">
                <a:solidFill>
                  <a:schemeClr val="bg1"/>
                </a:solidFill>
              </a:rPr>
              <a:t>wasting, </a:t>
            </a:r>
            <a:r>
              <a:rPr lang="en-GB" sz="2700" dirty="0">
                <a:solidFill>
                  <a:schemeClr val="bg1"/>
                </a:solidFill>
              </a:rPr>
              <a:t>there is a banana in the fridge’</a:t>
            </a:r>
          </a:p>
          <a:p>
            <a:pPr marL="457200" indent="-457200">
              <a:buAutoNum type="arabicPeriod"/>
            </a:pPr>
            <a:endParaRPr lang="en-GB" sz="2700" dirty="0">
              <a:solidFill>
                <a:schemeClr val="bg1"/>
              </a:solidFill>
            </a:endParaRPr>
          </a:p>
          <a:p>
            <a:pPr marL="457200" indent="-457200">
              <a:buAutoNum type="arabicPeriod"/>
            </a:pPr>
            <a:endParaRPr lang="en-GB" sz="2700" dirty="0">
              <a:solidFill>
                <a:schemeClr val="bg1"/>
              </a:solidFill>
            </a:endParaRPr>
          </a:p>
          <a:p>
            <a:pPr marL="457200" indent="-457200">
              <a:buAutoNum type="arabicPeriod"/>
            </a:pPr>
            <a:endParaRPr lang="en-GB" sz="2700" dirty="0">
              <a:solidFill>
                <a:schemeClr val="bg1"/>
              </a:solidFill>
            </a:endParaRPr>
          </a:p>
          <a:p>
            <a:r>
              <a:rPr lang="en-GB" sz="2700" dirty="0">
                <a:solidFill>
                  <a:schemeClr val="bg1"/>
                </a:solidFill>
              </a:rPr>
              <a:t>=&gt; WORKING HYPOTHESIS: </a:t>
            </a:r>
            <a:r>
              <a:rPr lang="en-GB" sz="2700" b="1" dirty="0">
                <a:solidFill>
                  <a:schemeClr val="bg1"/>
                </a:solidFill>
              </a:rPr>
              <a:t>SENTENCIAL MODIFIER</a:t>
            </a:r>
          </a:p>
        </p:txBody>
      </p:sp>
    </p:spTree>
    <p:extLst>
      <p:ext uri="{BB962C8B-B14F-4D97-AF65-F5344CB8AC3E}">
        <p14:creationId xmlns:p14="http://schemas.microsoft.com/office/powerpoint/2010/main" val="28572719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3" name="Title 2">
            <a:extLst>
              <a:ext uri="{FF2B5EF4-FFF2-40B4-BE49-F238E27FC236}">
                <a16:creationId xmlns:a16="http://schemas.microsoft.com/office/drawing/2014/main" id="{3C901EB4-F579-0A11-6C2D-DDFCD4B7F4A7}"/>
              </a:ext>
            </a:extLst>
          </p:cNvPr>
          <p:cNvSpPr>
            <a:spLocks noGrp="1"/>
          </p:cNvSpPr>
          <p:nvPr>
            <p:ph type="title"/>
          </p:nvPr>
        </p:nvSpPr>
        <p:spPr>
          <a:xfrm>
            <a:off x="838200" y="343354"/>
            <a:ext cx="10515600" cy="1325563"/>
          </a:xfrm>
        </p:spPr>
        <p:txBody>
          <a:bodyPr/>
          <a:lstStyle/>
          <a:p>
            <a:pPr algn="ctr"/>
            <a:r>
              <a:rPr lang="it-IT" sz="4400" dirty="0">
                <a:solidFill>
                  <a:prstClr val="black"/>
                </a:solidFill>
                <a:latin typeface="Century"/>
                <a:cs typeface="Levenim MT"/>
              </a:rPr>
              <a:t>ROADMAP: 1</a:t>
            </a:r>
            <a:endParaRPr lang="en-IT" dirty="0"/>
          </a:p>
        </p:txBody>
      </p:sp>
      <p:sp>
        <p:nvSpPr>
          <p:cNvPr id="4" name="TextBox 3">
            <a:extLst>
              <a:ext uri="{FF2B5EF4-FFF2-40B4-BE49-F238E27FC236}">
                <a16:creationId xmlns:a16="http://schemas.microsoft.com/office/drawing/2014/main" id="{4AB9D341-4DA7-AFC1-22D2-838D513F520F}"/>
              </a:ext>
            </a:extLst>
          </p:cNvPr>
          <p:cNvSpPr txBox="1"/>
          <p:nvPr/>
        </p:nvSpPr>
        <p:spPr>
          <a:xfrm>
            <a:off x="838200" y="1695867"/>
            <a:ext cx="10515600" cy="3831818"/>
          </a:xfrm>
          <a:prstGeom prst="rect">
            <a:avLst/>
          </a:prstGeom>
          <a:noFill/>
        </p:spPr>
        <p:txBody>
          <a:bodyPr wrap="square" rtlCol="0">
            <a:spAutoFit/>
          </a:bodyPr>
          <a:lstStyle/>
          <a:p>
            <a:r>
              <a:rPr lang="en-GB" sz="2700" dirty="0">
                <a:solidFill>
                  <a:schemeClr val="bg1"/>
                </a:solidFill>
              </a:rPr>
              <a:t>Expressing the 8 criteria via a sentential modifier in first-order logic.</a:t>
            </a:r>
          </a:p>
          <a:p>
            <a:endParaRPr lang="en-GB" sz="2700" dirty="0">
              <a:solidFill>
                <a:schemeClr val="bg1"/>
              </a:solidFill>
            </a:endParaRPr>
          </a:p>
          <a:p>
            <a:r>
              <a:rPr lang="en-GB" sz="2700" dirty="0">
                <a:solidFill>
                  <a:schemeClr val="bg1"/>
                </a:solidFill>
              </a:rPr>
              <a:t>For instance, </a:t>
            </a:r>
            <a:r>
              <a:rPr lang="en-GB" sz="2700" u="sng" dirty="0">
                <a:solidFill>
                  <a:schemeClr val="bg1"/>
                </a:solidFill>
              </a:rPr>
              <a:t>REVERSIBILITY</a:t>
            </a:r>
            <a:r>
              <a:rPr lang="en-GB" sz="2700" dirty="0">
                <a:solidFill>
                  <a:schemeClr val="bg1"/>
                </a:solidFill>
              </a:rPr>
              <a:t> obtains when:</a:t>
            </a:r>
          </a:p>
          <a:p>
            <a:endParaRPr lang="en-GB" sz="2700" dirty="0">
              <a:solidFill>
                <a:schemeClr val="bg1"/>
              </a:solidFill>
            </a:endParaRPr>
          </a:p>
          <a:p>
            <a:r>
              <a:rPr lang="en-GB" sz="2700" b="1" dirty="0">
                <a:solidFill>
                  <a:schemeClr val="bg1"/>
                </a:solidFill>
              </a:rPr>
              <a:t>“Wasting, </a:t>
            </a:r>
            <a:r>
              <a:rPr lang="en-GB" sz="2700" b="1" dirty="0" err="1">
                <a:solidFill>
                  <a:schemeClr val="bg1"/>
                </a:solidFill>
              </a:rPr>
              <a:t>Px</a:t>
            </a:r>
            <a:r>
              <a:rPr lang="en-GB" sz="2700" b="1" dirty="0">
                <a:solidFill>
                  <a:schemeClr val="bg1"/>
                </a:solidFill>
              </a:rPr>
              <a:t>” is true at time t1 &amp; “It is not the case that: wasting, </a:t>
            </a:r>
            <a:r>
              <a:rPr lang="en-GB" sz="2700" b="1" dirty="0" err="1">
                <a:solidFill>
                  <a:schemeClr val="bg1"/>
                </a:solidFill>
              </a:rPr>
              <a:t>Px</a:t>
            </a:r>
            <a:r>
              <a:rPr lang="en-GB" sz="2700" b="1" dirty="0">
                <a:solidFill>
                  <a:schemeClr val="bg1"/>
                </a:solidFill>
              </a:rPr>
              <a:t>” is true at time t2</a:t>
            </a:r>
          </a:p>
          <a:p>
            <a:endParaRPr lang="en-GB" sz="2700" dirty="0">
              <a:solidFill>
                <a:schemeClr val="bg1"/>
              </a:solidFill>
            </a:endParaRPr>
          </a:p>
          <a:p>
            <a:r>
              <a:rPr lang="en-GB" sz="2700" dirty="0">
                <a:solidFill>
                  <a:schemeClr val="bg1"/>
                </a:solidFill>
              </a:rPr>
              <a:t>[with t2 occurring after t1]</a:t>
            </a:r>
          </a:p>
          <a:p>
            <a:endParaRPr lang="en-GB" sz="2700" dirty="0">
              <a:solidFill>
                <a:schemeClr val="bg1"/>
              </a:solidFill>
            </a:endParaRPr>
          </a:p>
        </p:txBody>
      </p:sp>
    </p:spTree>
    <p:extLst>
      <p:ext uri="{BB962C8B-B14F-4D97-AF65-F5344CB8AC3E}">
        <p14:creationId xmlns:p14="http://schemas.microsoft.com/office/powerpoint/2010/main" val="2965111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igura a mano libera: forma 1">
            <a:extLst>
              <a:ext uri="{FF2B5EF4-FFF2-40B4-BE49-F238E27FC236}">
                <a16:creationId xmlns:a16="http://schemas.microsoft.com/office/drawing/2014/main" id="{EA6F4C53-2090-40F0-831F-A7FD9BFAE6C9}"/>
              </a:ext>
            </a:extLst>
          </p:cNvPr>
          <p:cNvSpPr/>
          <p:nvPr/>
        </p:nvSpPr>
        <p:spPr>
          <a:xfrm>
            <a:off x="50379" y="47664"/>
            <a:ext cx="6167543" cy="6657936"/>
          </a:xfrm>
          <a:custGeom>
            <a:avLst/>
            <a:gdLst>
              <a:gd name="connsiteX0" fmla="*/ 16600 w 3034120"/>
              <a:gd name="connsiteY0" fmla="*/ 0 h 5893271"/>
              <a:gd name="connsiteX1" fmla="*/ 1327240 w 3034120"/>
              <a:gd name="connsiteY1" fmla="*/ 1239520 h 5893271"/>
              <a:gd name="connsiteX2" fmla="*/ 6440 w 3034120"/>
              <a:gd name="connsiteY2" fmla="*/ 4947920 h 5893271"/>
              <a:gd name="connsiteX3" fmla="*/ 920840 w 3034120"/>
              <a:gd name="connsiteY3" fmla="*/ 5892800 h 5893271"/>
              <a:gd name="connsiteX4" fmla="*/ 3034120 w 3034120"/>
              <a:gd name="connsiteY4" fmla="*/ 5100320 h 5893271"/>
              <a:gd name="connsiteX0" fmla="*/ 19825 w 3037345"/>
              <a:gd name="connsiteY0" fmla="*/ 0 h 5624567"/>
              <a:gd name="connsiteX1" fmla="*/ 1330465 w 3037345"/>
              <a:gd name="connsiteY1" fmla="*/ 1239520 h 5624567"/>
              <a:gd name="connsiteX2" fmla="*/ 9665 w 3037345"/>
              <a:gd name="connsiteY2" fmla="*/ 4947920 h 5624567"/>
              <a:gd name="connsiteX3" fmla="*/ 854754 w 3037345"/>
              <a:gd name="connsiteY3" fmla="*/ 5623928 h 5624567"/>
              <a:gd name="connsiteX4" fmla="*/ 3037345 w 3037345"/>
              <a:gd name="connsiteY4" fmla="*/ 5100320 h 5624567"/>
              <a:gd name="connsiteX0" fmla="*/ 19181 w 3036701"/>
              <a:gd name="connsiteY0" fmla="*/ 0 h 5743896"/>
              <a:gd name="connsiteX1" fmla="*/ 1329821 w 3036701"/>
              <a:gd name="connsiteY1" fmla="*/ 1239520 h 5743896"/>
              <a:gd name="connsiteX2" fmla="*/ 9021 w 3036701"/>
              <a:gd name="connsiteY2" fmla="*/ 4947920 h 5743896"/>
              <a:gd name="connsiteX3" fmla="*/ 854110 w 3036701"/>
              <a:gd name="connsiteY3" fmla="*/ 5623928 h 5743896"/>
              <a:gd name="connsiteX4" fmla="*/ 3036701 w 3036701"/>
              <a:gd name="connsiteY4" fmla="*/ 5100320 h 5743896"/>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 name="connsiteX0" fmla="*/ 0 w 3285522"/>
              <a:gd name="connsiteY0" fmla="*/ 0 h 5627385"/>
              <a:gd name="connsiteX1" fmla="*/ 1578642 w 3285522"/>
              <a:gd name="connsiteY1" fmla="*/ 1123009 h 5627385"/>
              <a:gd name="connsiteX2" fmla="*/ 257842 w 3285522"/>
              <a:gd name="connsiteY2" fmla="*/ 4831409 h 5627385"/>
              <a:gd name="connsiteX3" fmla="*/ 1102931 w 3285522"/>
              <a:gd name="connsiteY3" fmla="*/ 5507417 h 5627385"/>
              <a:gd name="connsiteX4" fmla="*/ 3285522 w 3285522"/>
              <a:gd name="connsiteY4" fmla="*/ 4983809 h 5627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522" h="5627385">
                <a:moveTo>
                  <a:pt x="0" y="0"/>
                </a:moveTo>
                <a:cubicBezTo>
                  <a:pt x="697753" y="55072"/>
                  <a:pt x="1535668" y="317774"/>
                  <a:pt x="1578642" y="1123009"/>
                </a:cubicBezTo>
                <a:cubicBezTo>
                  <a:pt x="1621616" y="1928244"/>
                  <a:pt x="337127" y="4100674"/>
                  <a:pt x="257842" y="4831409"/>
                </a:cubicBezTo>
                <a:cubicBezTo>
                  <a:pt x="178557" y="5562144"/>
                  <a:pt x="635284" y="5795701"/>
                  <a:pt x="1102931" y="5507417"/>
                </a:cubicBezTo>
                <a:cubicBezTo>
                  <a:pt x="1570578" y="5219133"/>
                  <a:pt x="2118815" y="4792462"/>
                  <a:pt x="3285522" y="4983809"/>
                </a:cubicBezTo>
              </a:path>
            </a:pathLst>
          </a:custGeom>
          <a:ln>
            <a:solidFill>
              <a:schemeClr val="tx1"/>
            </a:solidFill>
          </a:ln>
        </p:spPr>
        <p:style>
          <a:lnRef idx="3">
            <a:schemeClr val="accent6"/>
          </a:lnRef>
          <a:fillRef idx="0">
            <a:schemeClr val="accent6"/>
          </a:fillRef>
          <a:effectRef idx="2">
            <a:schemeClr val="accent6"/>
          </a:effectRef>
          <a:fontRef idx="minor">
            <a:schemeClr val="tx1"/>
          </a:fontRef>
        </p:style>
        <p:txBody>
          <a:bodyPr rtlCol="0" anchor="ctr"/>
          <a:lstStyle/>
          <a:p>
            <a:pPr algn="ctr" defTabSz="914377"/>
            <a:endParaRPr lang="it-IT">
              <a:solidFill>
                <a:prstClr val="white"/>
              </a:solidFill>
              <a:latin typeface="Calibri" panose="020F0502020204030204"/>
            </a:endParaRPr>
          </a:p>
        </p:txBody>
      </p:sp>
      <p:sp>
        <p:nvSpPr>
          <p:cNvPr id="3" name="Title 2">
            <a:extLst>
              <a:ext uri="{FF2B5EF4-FFF2-40B4-BE49-F238E27FC236}">
                <a16:creationId xmlns:a16="http://schemas.microsoft.com/office/drawing/2014/main" id="{3C901EB4-F579-0A11-6C2D-DDFCD4B7F4A7}"/>
              </a:ext>
            </a:extLst>
          </p:cNvPr>
          <p:cNvSpPr>
            <a:spLocks noGrp="1"/>
          </p:cNvSpPr>
          <p:nvPr>
            <p:ph type="title"/>
          </p:nvPr>
        </p:nvSpPr>
        <p:spPr>
          <a:xfrm>
            <a:off x="838200" y="229883"/>
            <a:ext cx="10515600" cy="1325563"/>
          </a:xfrm>
        </p:spPr>
        <p:txBody>
          <a:bodyPr/>
          <a:lstStyle/>
          <a:p>
            <a:pPr algn="ctr"/>
            <a:r>
              <a:rPr lang="it-IT" sz="4400" dirty="0">
                <a:solidFill>
                  <a:prstClr val="black"/>
                </a:solidFill>
                <a:latin typeface="Century"/>
                <a:cs typeface="Levenim MT"/>
              </a:rPr>
              <a:t>ROADMAP: 2</a:t>
            </a:r>
            <a:endParaRPr lang="en-IT" dirty="0"/>
          </a:p>
        </p:txBody>
      </p:sp>
      <p:sp>
        <p:nvSpPr>
          <p:cNvPr id="4" name="TextBox 3">
            <a:extLst>
              <a:ext uri="{FF2B5EF4-FFF2-40B4-BE49-F238E27FC236}">
                <a16:creationId xmlns:a16="http://schemas.microsoft.com/office/drawing/2014/main" id="{4AB9D341-4DA7-AFC1-22D2-838D513F520F}"/>
              </a:ext>
            </a:extLst>
          </p:cNvPr>
          <p:cNvSpPr txBox="1"/>
          <p:nvPr/>
        </p:nvSpPr>
        <p:spPr>
          <a:xfrm>
            <a:off x="838200" y="2295675"/>
            <a:ext cx="10515600" cy="3046988"/>
          </a:xfrm>
          <a:prstGeom prst="rect">
            <a:avLst/>
          </a:prstGeom>
          <a:noFill/>
        </p:spPr>
        <p:txBody>
          <a:bodyPr wrap="square" rtlCol="0">
            <a:spAutoFit/>
          </a:bodyPr>
          <a:lstStyle/>
          <a:p>
            <a:r>
              <a:rPr lang="en-GB" sz="3300" dirty="0">
                <a:solidFill>
                  <a:schemeClr val="bg1"/>
                </a:solidFill>
              </a:rPr>
              <a:t>Moving from: </a:t>
            </a:r>
            <a:r>
              <a:rPr lang="en-GB" sz="3300" b="1" i="1" dirty="0">
                <a:solidFill>
                  <a:schemeClr val="bg1"/>
                </a:solidFill>
              </a:rPr>
              <a:t>conceptual schema in first-order logic </a:t>
            </a:r>
          </a:p>
          <a:p>
            <a:endParaRPr lang="en-GB" sz="3300" dirty="0">
              <a:solidFill>
                <a:schemeClr val="bg1"/>
              </a:solidFill>
            </a:endParaRPr>
          </a:p>
          <a:p>
            <a:r>
              <a:rPr lang="en-GB" sz="3300" dirty="0">
                <a:solidFill>
                  <a:schemeClr val="bg1"/>
                </a:solidFill>
              </a:rPr>
              <a:t>to: </a:t>
            </a:r>
            <a:r>
              <a:rPr lang="en-GB" sz="3300" b="1" i="1" dirty="0">
                <a:solidFill>
                  <a:schemeClr val="bg1"/>
                </a:solidFill>
              </a:rPr>
              <a:t>conceptual schema in domain ontology </a:t>
            </a:r>
          </a:p>
          <a:p>
            <a:endParaRPr lang="en-GB" sz="3300" dirty="0">
              <a:solidFill>
                <a:schemeClr val="bg1"/>
              </a:solidFill>
            </a:endParaRPr>
          </a:p>
          <a:p>
            <a:r>
              <a:rPr lang="en-GB" sz="3300" dirty="0">
                <a:solidFill>
                  <a:schemeClr val="bg1"/>
                </a:solidFill>
              </a:rPr>
              <a:t>and eventually: </a:t>
            </a:r>
            <a:r>
              <a:rPr lang="en-GB" sz="3300" b="1" dirty="0">
                <a:solidFill>
                  <a:schemeClr val="bg1"/>
                </a:solidFill>
              </a:rPr>
              <a:t>conceptual schema in OWL</a:t>
            </a:r>
            <a:r>
              <a:rPr lang="en-GB" sz="3300" dirty="0">
                <a:solidFill>
                  <a:schemeClr val="bg1"/>
                </a:solidFill>
              </a:rPr>
              <a:t> </a:t>
            </a:r>
          </a:p>
          <a:p>
            <a:endParaRPr lang="en-GB" sz="2700" dirty="0">
              <a:solidFill>
                <a:schemeClr val="bg1"/>
              </a:solidFill>
            </a:endParaRPr>
          </a:p>
        </p:txBody>
      </p:sp>
    </p:spTree>
    <p:extLst>
      <p:ext uri="{BB962C8B-B14F-4D97-AF65-F5344CB8AC3E}">
        <p14:creationId xmlns:p14="http://schemas.microsoft.com/office/powerpoint/2010/main" val="386626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olo 3"/>
          <p:cNvSpPr>
            <a:spLocks noGrp="1"/>
          </p:cNvSpPr>
          <p:nvPr>
            <p:ph type="ctrTitle"/>
          </p:nvPr>
        </p:nvSpPr>
        <p:spPr>
          <a:xfrm>
            <a:off x="767079" y="337045"/>
            <a:ext cx="10668000" cy="2150091"/>
          </a:xfrm>
        </p:spPr>
        <p:txBody>
          <a:bodyPr>
            <a:normAutofit/>
          </a:bodyPr>
          <a:lstStyle/>
          <a:p>
            <a:r>
              <a:rPr lang="it-IT" sz="6500" b="1" dirty="0">
                <a:solidFill>
                  <a:schemeClr val="bg1"/>
                </a:solidFill>
                <a:latin typeface="Optima" panose="02000503060000020004" pitchFamily="2" charset="0"/>
                <a:ea typeface="Gadugi" panose="020B0502040204020203" pitchFamily="34" charset="0"/>
                <a:cs typeface="Levenim MT" panose="020B0604020202020204" pitchFamily="2" charset="-79"/>
              </a:rPr>
              <a:t>Grazie! </a:t>
            </a:r>
          </a:p>
        </p:txBody>
      </p:sp>
      <p:sp>
        <p:nvSpPr>
          <p:cNvPr id="5" name="Sottotitolo 4"/>
          <p:cNvSpPr>
            <a:spLocks noGrp="1"/>
          </p:cNvSpPr>
          <p:nvPr>
            <p:ph type="subTitle" idx="1"/>
          </p:nvPr>
        </p:nvSpPr>
        <p:spPr>
          <a:xfrm>
            <a:off x="1581833" y="2873990"/>
            <a:ext cx="9144000" cy="1821103"/>
          </a:xfrm>
        </p:spPr>
        <p:txBody>
          <a:bodyPr>
            <a:normAutofit/>
          </a:bodyPr>
          <a:lstStyle/>
          <a:p>
            <a:r>
              <a:rPr lang="it-IT" sz="3300" dirty="0" err="1">
                <a:solidFill>
                  <a:schemeClr val="bg1"/>
                </a:solidFill>
                <a:latin typeface="Optima" panose="02000503060000020004" pitchFamily="2" charset="0"/>
              </a:rPr>
              <a:t>andrea.borghini@unimi.it</a:t>
            </a:r>
            <a:endParaRPr lang="it-IT" sz="3300" dirty="0">
              <a:solidFill>
                <a:schemeClr val="bg1"/>
              </a:solidFill>
              <a:latin typeface="Optima" panose="02000503060000020004" pitchFamily="2" charset="0"/>
            </a:endParaRPr>
          </a:p>
          <a:p>
            <a:r>
              <a:rPr lang="it-IT" sz="3300" dirty="0">
                <a:solidFill>
                  <a:schemeClr val="bg1"/>
                </a:solidFill>
                <a:latin typeface="Optima" panose="02000503060000020004" pitchFamily="2" charset="0"/>
              </a:rPr>
              <a:t>http://</a:t>
            </a:r>
            <a:r>
              <a:rPr lang="it-IT" sz="3300" dirty="0" err="1">
                <a:solidFill>
                  <a:schemeClr val="bg1"/>
                </a:solidFill>
                <a:latin typeface="Optima" panose="02000503060000020004" pitchFamily="2" charset="0"/>
              </a:rPr>
              <a:t>www.filosofia.unimi.it</a:t>
            </a:r>
            <a:r>
              <a:rPr lang="it-IT" sz="3300" dirty="0">
                <a:solidFill>
                  <a:schemeClr val="bg1"/>
                </a:solidFill>
                <a:latin typeface="Optima" panose="02000503060000020004" pitchFamily="2" charset="0"/>
              </a:rPr>
              <a:t>/borghini/</a:t>
            </a:r>
          </a:p>
          <a:p>
            <a:r>
              <a:rPr lang="it-IT" sz="3300" dirty="0">
                <a:solidFill>
                  <a:schemeClr val="bg1"/>
                </a:solidFill>
                <a:latin typeface="Optima" panose="02000503060000020004" pitchFamily="2" charset="0"/>
              </a:rPr>
              <a:t>https://</a:t>
            </a:r>
            <a:r>
              <a:rPr lang="it-IT" sz="3300" dirty="0" err="1">
                <a:solidFill>
                  <a:schemeClr val="bg1"/>
                </a:solidFill>
                <a:latin typeface="Optima" panose="02000503060000020004" pitchFamily="2" charset="0"/>
              </a:rPr>
              <a:t>culinarymind.org</a:t>
            </a:r>
            <a:r>
              <a:rPr lang="it-IT" sz="3300" dirty="0">
                <a:solidFill>
                  <a:schemeClr val="bg1"/>
                </a:solidFill>
                <a:latin typeface="Optima" panose="02000503060000020004" pitchFamily="2" charset="0"/>
              </a:rPr>
              <a:t>/</a:t>
            </a:r>
          </a:p>
        </p:txBody>
      </p:sp>
      <p:pic>
        <p:nvPicPr>
          <p:cNvPr id="2" name="Picture 1">
            <a:extLst>
              <a:ext uri="{FF2B5EF4-FFF2-40B4-BE49-F238E27FC236}">
                <a16:creationId xmlns:a16="http://schemas.microsoft.com/office/drawing/2014/main" id="{77B4904F-155B-4B0F-6413-5AD71821F5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8629" y="4919175"/>
            <a:ext cx="2458543" cy="1289727"/>
          </a:xfrm>
          <a:prstGeom prst="rect">
            <a:avLst/>
          </a:prstGeom>
        </p:spPr>
      </p:pic>
      <p:pic>
        <p:nvPicPr>
          <p:cNvPr id="3" name="Picture 3" descr="Shape, logo&#10;&#10;Description automatically generated">
            <a:extLst>
              <a:ext uri="{FF2B5EF4-FFF2-40B4-BE49-F238E27FC236}">
                <a16:creationId xmlns:a16="http://schemas.microsoft.com/office/drawing/2014/main" id="{CB8857D3-9D4F-9A3B-4716-006A66D983B5}"/>
              </a:ext>
            </a:extLst>
          </p:cNvPr>
          <p:cNvPicPr>
            <a:picLocks noChangeAspect="1"/>
          </p:cNvPicPr>
          <p:nvPr/>
        </p:nvPicPr>
        <p:blipFill>
          <a:blip r:embed="rId4"/>
          <a:stretch>
            <a:fillRect/>
          </a:stretch>
        </p:blipFill>
        <p:spPr>
          <a:xfrm>
            <a:off x="9586534" y="5081946"/>
            <a:ext cx="1139300" cy="1146956"/>
          </a:xfrm>
          <a:prstGeom prst="rect">
            <a:avLst/>
          </a:prstGeom>
        </p:spPr>
      </p:pic>
      <p:pic>
        <p:nvPicPr>
          <p:cNvPr id="7" name="Picture 6">
            <a:extLst>
              <a:ext uri="{FF2B5EF4-FFF2-40B4-BE49-F238E27FC236}">
                <a16:creationId xmlns:a16="http://schemas.microsoft.com/office/drawing/2014/main" id="{5FB99F82-F729-2D46-FA3C-1A04B33739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30387" y="5294030"/>
            <a:ext cx="2357120" cy="1113367"/>
          </a:xfrm>
          <a:prstGeom prst="rect">
            <a:avLst/>
          </a:prstGeom>
        </p:spPr>
      </p:pic>
    </p:spTree>
    <p:extLst>
      <p:ext uri="{BB962C8B-B14F-4D97-AF65-F5344CB8AC3E}">
        <p14:creationId xmlns:p14="http://schemas.microsoft.com/office/powerpoint/2010/main" val="11454527"/>
      </p:ext>
    </p:extLst>
  </p:cSld>
  <p:clrMapOvr>
    <a:masterClrMapping/>
  </p:clrMapOvr>
</p:sld>
</file>

<file path=ppt/theme/theme1.xml><?xml version="1.0" encoding="utf-8"?>
<a:theme xmlns:a="http://schemas.openxmlformats.org/drawingml/2006/main" name="Office Theme">
  <a:themeElements>
    <a:clrScheme name="Tema di Offic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Tema di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Tema di Offic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Tema di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F30F646-1310-354D-80FF-E1C829C3324C}">
  <we:reference id="wa104051163" version="1.2.0.3" store="en-GB"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3972</TotalTime>
  <Words>888</Words>
  <Application>Microsoft Macintosh PowerPoint</Application>
  <PresentationFormat>Widescreen</PresentationFormat>
  <Paragraphs>109</Paragraphs>
  <Slides>27</Slides>
  <Notes>0</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27</vt:i4>
      </vt:variant>
    </vt:vector>
  </HeadingPairs>
  <TitlesOfParts>
    <vt:vector size="42" baseType="lpstr">
      <vt:lpstr>Arial</vt:lpstr>
      <vt:lpstr>Bahnschrift SemiLight</vt:lpstr>
      <vt:lpstr>Baskerville Old Face</vt:lpstr>
      <vt:lpstr>Calibri</vt:lpstr>
      <vt:lpstr>Calibri Light</vt:lpstr>
      <vt:lpstr>Century</vt:lpstr>
      <vt:lpstr>Garamond</vt:lpstr>
      <vt:lpstr>Georgia</vt:lpstr>
      <vt:lpstr>Helvetica Neue</vt:lpstr>
      <vt:lpstr>Optima</vt:lpstr>
      <vt:lpstr>Radley</vt:lpstr>
      <vt:lpstr>Times</vt:lpstr>
      <vt:lpstr>Office Theme</vt:lpstr>
      <vt:lpstr>Tema di Office</vt:lpstr>
      <vt:lpstr>1_Office Theme</vt:lpstr>
      <vt:lpstr> Towards a Logic of «Food Waste»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Reversibility </vt:lpstr>
      <vt:lpstr>2. Relationality </vt:lpstr>
      <vt:lpstr>3.  Possibility </vt:lpstr>
      <vt:lpstr>4.  Vagueness </vt:lpstr>
      <vt:lpstr>5.  Value-Sensitivity </vt:lpstr>
      <vt:lpstr>6.  Agentivity </vt:lpstr>
      <vt:lpstr>7. Exceptionality </vt:lpstr>
      <vt:lpstr>8.  Luck </vt:lpstr>
      <vt:lpstr>PowerPoint Presentation</vt:lpstr>
      <vt:lpstr>1. SUBSTANTIVALISM </vt:lpstr>
      <vt:lpstr>PowerPoint Presentation</vt:lpstr>
      <vt:lpstr>2. ADJECTIVALISM </vt:lpstr>
      <vt:lpstr>3. ADVERBALISM </vt:lpstr>
      <vt:lpstr>PowerPoint Presentation</vt:lpstr>
      <vt:lpstr>THREE OPTIONS</vt:lpstr>
      <vt:lpstr>ROADMAP: 1</vt:lpstr>
      <vt:lpstr>ROADMAP: 2</vt:lpstr>
      <vt:lpstr>Grazie!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RUMORE DI SALE</dc:title>
  <dc:creator>Utente di Microsoft Office</dc:creator>
  <cp:lastModifiedBy>Andrea Borghini</cp:lastModifiedBy>
  <cp:revision>803</cp:revision>
  <dcterms:created xsi:type="dcterms:W3CDTF">2019-05-09T14:20:35Z</dcterms:created>
  <dcterms:modified xsi:type="dcterms:W3CDTF">2025-11-11T21:12:05Z</dcterms:modified>
</cp:coreProperties>
</file>