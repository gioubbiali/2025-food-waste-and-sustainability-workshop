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001A27-A7B1-CDC7-47A2-984EE8189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334C488-4B84-E51B-B8E7-CE2A93943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8DDDDD-53BD-E46B-69FB-A43F01CD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71752E-2E67-5AD7-2590-CFAC561F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13C165-5330-1884-06B7-701CEFB7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160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97663A-FF08-A8C7-6D0E-FCFDA800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80406C-FCAA-5D61-4F8B-5B7B233C6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68F3FD-E4CA-414E-FE1E-20D3F449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185CE4-AFA0-F233-A0C2-535A1208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3768CE-D1F2-7561-7AC4-A1E0861A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35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D8B0F8-36E7-36D9-2F37-92C89CCE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5118A9-951C-6C6C-B291-070F31B26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DDA4D5-C26D-B763-F736-455549E2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6E72A1-2678-92D7-952D-BCE53CE4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F7787E-6156-FC65-5063-F1312545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04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6F05FC-CEE8-E016-9BDD-4BFD9559E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E188E6-3ACA-05F8-941A-40E8BB316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A3E87A-033E-594D-6F11-A2925762F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73EC7F-84B4-1F26-865E-5589D24F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6796B2C-01C2-FAAA-2092-982C03F5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48E1BB3-FC7E-6532-C8CB-1C9A240C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992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E12916-0906-2002-E6C8-3C13F5DE0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33F65B-A2AD-D6FE-CFC1-F2A17ABF8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BE6D42E-A35D-E31C-3B6A-2AEE17A98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0AA15FA-BDE7-66D0-C706-E4DEB06D5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B62EC66-2E80-A0A2-4C1D-848AB81F8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856455E-948F-1871-039A-D510E1EE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6B82D0-8DB7-965A-71ED-23B8FF8E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D4CF6AC-244D-4CBE-D86A-F90640DA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1728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177404-04B0-383D-1B6A-6E706A45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06F6CD1-967F-CED1-6AC6-62BA20E8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61A91C4-EEF1-B14A-587E-9BF5393B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28B25AA-C832-EF04-5E6A-74AD69EC7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45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5D3C2BA-E9B4-7D9A-9798-88A246B6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9C08783-B311-D7B8-61D0-124B804C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543BC3-55A4-9611-3421-5BE8E0A5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439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C9F7DC-53EF-A5FC-0F9C-D863319CE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29B8A5-5048-B97F-17E1-1EBE7DF0A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CE11081-D257-F46F-D7D5-00E91E75F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D15E4BE-8695-3CC6-44DD-9403597F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931F328-F7EF-BB46-63AC-15A8B9C1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4FAD761-DE13-2127-B697-EF89B555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790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9B5E2F-2FAC-DE66-A348-579923E2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9CFD8AD-4092-EA3E-4647-8B15D4D1F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3D824CD-C0E2-BC56-741E-57F649A1F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6E777-5436-8BE9-E2C8-421DAE91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A28B91A-4191-CE70-6305-8EA1ADE7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4F909D6-D34D-7B81-5EB3-447A1214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14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583524-E073-2F8C-90C7-BFE83882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027A23F-EBEE-283C-B099-A6DCF864A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C25F1F-1F54-035A-4CBD-615FE7C4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D475C5-B04E-377A-B103-8426CEE1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EE7CEC-4ADA-7B78-0F65-B933AE60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86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9FB0119-BBB1-6391-A944-E5B3E5316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0B6661-041E-4166-9BF3-76D541F0E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B7354F-B2BF-E24E-D6B7-56F4DB97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EA1DC9-F986-9623-2FEF-1BD53BEA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1665F5-A4D3-8CB0-FF07-2018B0E7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82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040B170-14BB-5BF8-0EEB-7757CE86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1E0B07-73E0-76AF-06CB-94A74D3D8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B274A7-F009-3FDA-2189-030B9CA18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66456-5854-4069-A06E-1E9B5C838816}" type="datetimeFigureOut">
              <a:rPr lang="it-IT" smtClean="0"/>
              <a:t>12/11/2025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00471C-7A65-14BB-8A6B-582B65609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BE5AFA-B41B-E7D4-2A98-238D29BB9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42C40-A291-4FDE-AD36-AB5FDB4F13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236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96B30E-EC28-57C7-545C-80AE385020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000" b="1" i="1" dirty="0"/>
              <a:t>Towards a Meta-ontology of Sustainability</a:t>
            </a:r>
            <a:br>
              <a:rPr lang="it-IT" sz="4000" b="1" i="1" dirty="0"/>
            </a:br>
            <a:r>
              <a:rPr lang="en-US" sz="4000" b="1" i="1" dirty="0"/>
              <a:t>An Educational Perspective</a:t>
            </a:r>
            <a:br>
              <a:rPr lang="it-IT" b="1" dirty="0"/>
            </a:br>
            <a:r>
              <a:rPr lang="it-IT" sz="2700" dirty="0"/>
              <a:t>Antonio Lizzadri</a:t>
            </a:r>
            <a:br>
              <a:rPr lang="it-IT" sz="2700" dirty="0"/>
            </a:br>
            <a:r>
              <a:rPr lang="it-IT" sz="2700" dirty="0" err="1"/>
              <a:t>Catholic</a:t>
            </a:r>
            <a:r>
              <a:rPr lang="it-IT" sz="2700" dirty="0"/>
              <a:t> University of Milan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0D53150-0373-92C4-BB2D-32C4C45F8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it-IT" altLang="it-IT" dirty="0">
              <a:latin typeface="Arial" panose="020B0604020202020204" pitchFamily="34" charset="0"/>
            </a:endParaRPr>
          </a:p>
          <a:p>
            <a:r>
              <a:rPr lang="it-IT" altLang="it-IT" b="1" dirty="0">
                <a:latin typeface="Arial" panose="020B0604020202020204" pitchFamily="34" charset="0"/>
              </a:rPr>
              <a:t>Food, Waste, and </a:t>
            </a:r>
            <a:r>
              <a:rPr lang="it-IT" altLang="it-IT" b="1" dirty="0" err="1">
                <a:latin typeface="Arial" panose="020B0604020202020204" pitchFamily="34" charset="0"/>
              </a:rPr>
              <a:t>Sustainability</a:t>
            </a:r>
            <a:r>
              <a:rPr lang="it-IT" altLang="it-IT" b="1" dirty="0">
                <a:latin typeface="Arial" panose="020B0604020202020204" pitchFamily="34" charset="0"/>
              </a:rPr>
              <a:t>:</a:t>
            </a:r>
          </a:p>
          <a:p>
            <a:r>
              <a:rPr lang="it-IT" altLang="it-IT" b="1" dirty="0" err="1">
                <a:latin typeface="Arial" panose="020B0604020202020204" pitchFamily="34" charset="0"/>
              </a:rPr>
              <a:t>Synergizing</a:t>
            </a:r>
            <a:r>
              <a:rPr lang="it-IT" altLang="it-IT" b="1" dirty="0">
                <a:latin typeface="Arial" panose="020B0604020202020204" pitchFamily="34" charset="0"/>
              </a:rPr>
              <a:t> </a:t>
            </a:r>
            <a:r>
              <a:rPr lang="it-IT" altLang="it-IT" b="1" dirty="0" err="1">
                <a:latin typeface="Arial" panose="020B0604020202020204" pitchFamily="34" charset="0"/>
              </a:rPr>
              <a:t>Ontology</a:t>
            </a:r>
            <a:r>
              <a:rPr lang="it-IT" altLang="it-IT" b="1" dirty="0">
                <a:latin typeface="Arial" panose="020B0604020202020204" pitchFamily="34" charset="0"/>
              </a:rPr>
              <a:t> </a:t>
            </a:r>
            <a:r>
              <a:rPr lang="it-IT" altLang="it-IT" b="1" dirty="0" err="1">
                <a:latin typeface="Arial" panose="020B0604020202020204" pitchFamily="34" charset="0"/>
              </a:rPr>
              <a:t>Efforts</a:t>
            </a:r>
            <a:r>
              <a:rPr lang="it-IT" altLang="it-IT" b="1" dirty="0">
                <a:latin typeface="Arial" panose="020B0604020202020204" pitchFamily="34" charset="0"/>
              </a:rPr>
              <a:t> workshop </a:t>
            </a:r>
            <a:r>
              <a:rPr lang="it-IT" altLang="it-IT" b="1" dirty="0" err="1">
                <a:latin typeface="Arial" panose="020B0604020202020204" pitchFamily="34" charset="0"/>
              </a:rPr>
              <a:t>at</a:t>
            </a:r>
            <a:r>
              <a:rPr lang="it-IT" altLang="it-IT" b="1" dirty="0">
                <a:latin typeface="Arial" panose="020B0604020202020204" pitchFamily="34" charset="0"/>
              </a:rPr>
              <a:t> ICBO2025</a:t>
            </a:r>
          </a:p>
          <a:p>
            <a:r>
              <a:rPr lang="it-IT" altLang="it-IT" sz="1600" dirty="0">
                <a:latin typeface="Arial" panose="020B0604020202020204" pitchFamily="34" charset="0"/>
              </a:rPr>
              <a:t>November 14, 2025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5798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1C318E-9B29-F4EF-8C4E-F1789836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i="1" dirty="0" err="1"/>
              <a:t>Ontology</a:t>
            </a:r>
            <a:r>
              <a:rPr lang="it-IT" i="1" dirty="0"/>
              <a:t> of </a:t>
            </a:r>
            <a:r>
              <a:rPr lang="it-IT" i="1" dirty="0" err="1"/>
              <a:t>Sustainability</a:t>
            </a:r>
            <a:r>
              <a:rPr lang="it-IT" i="1" dirty="0"/>
              <a:t> from an Educational </a:t>
            </a:r>
            <a:r>
              <a:rPr lang="it-IT" i="1" dirty="0" err="1"/>
              <a:t>perspective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10976C-A8AA-46D8-8F06-BBE540899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ontological</a:t>
            </a:r>
            <a:r>
              <a:rPr lang="it-IT" dirty="0"/>
              <a:t> </a:t>
            </a:r>
            <a:r>
              <a:rPr lang="it-IT" dirty="0" err="1"/>
              <a:t>relevance</a:t>
            </a:r>
            <a:r>
              <a:rPr lang="it-IT" dirty="0"/>
              <a:t> of </a:t>
            </a:r>
            <a:r>
              <a:rPr lang="it-IT" dirty="0" err="1"/>
              <a:t>Sustainability</a:t>
            </a:r>
            <a:endParaRPr lang="it-IT" dirty="0"/>
          </a:p>
          <a:p>
            <a:endParaRPr lang="it-IT" dirty="0"/>
          </a:p>
          <a:p>
            <a:r>
              <a:rPr lang="it-IT" dirty="0"/>
              <a:t>From </a:t>
            </a:r>
            <a:r>
              <a:rPr lang="it-IT" dirty="0" err="1"/>
              <a:t>Ontologies</a:t>
            </a:r>
            <a:r>
              <a:rPr lang="it-IT" dirty="0"/>
              <a:t> of </a:t>
            </a:r>
            <a:r>
              <a:rPr lang="it-IT" dirty="0" err="1"/>
              <a:t>Sustainability</a:t>
            </a:r>
            <a:r>
              <a:rPr lang="it-IT" dirty="0"/>
              <a:t> to Meta-</a:t>
            </a:r>
            <a:r>
              <a:rPr lang="it-IT" dirty="0" err="1"/>
              <a:t>ontology</a:t>
            </a:r>
            <a:endParaRPr lang="it-IT" dirty="0"/>
          </a:p>
          <a:p>
            <a:endParaRPr lang="it-IT" dirty="0"/>
          </a:p>
          <a:p>
            <a:r>
              <a:rPr lang="it-IT" dirty="0"/>
              <a:t>Meta-</a:t>
            </a:r>
            <a:r>
              <a:rPr lang="it-IT" dirty="0" err="1"/>
              <a:t>ontology</a:t>
            </a:r>
            <a:r>
              <a:rPr lang="it-IT" dirty="0"/>
              <a:t> of </a:t>
            </a:r>
            <a:r>
              <a:rPr lang="it-IT" dirty="0" err="1"/>
              <a:t>Sustainability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Education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521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184631-AE23-EFC9-412A-963091E3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dirty="0"/>
            </a:br>
            <a:r>
              <a:rPr lang="it-IT" i="1" dirty="0" err="1"/>
              <a:t>Overcoming</a:t>
            </a:r>
            <a:r>
              <a:rPr lang="it-IT" i="1" dirty="0"/>
              <a:t> «</a:t>
            </a:r>
            <a:r>
              <a:rPr lang="it-IT" i="1" dirty="0" err="1"/>
              <a:t>unsustainable</a:t>
            </a:r>
            <a:r>
              <a:rPr lang="it-IT" i="1" dirty="0"/>
              <a:t>» </a:t>
            </a:r>
            <a:r>
              <a:rPr lang="it-IT" i="1" dirty="0" err="1"/>
              <a:t>epistemology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4BC91F-2F81-AC60-2432-978BFAEF9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«</a:t>
            </a:r>
            <a:r>
              <a:rPr lang="it-IT" dirty="0" err="1"/>
              <a:t>Unsustainable</a:t>
            </a:r>
            <a:r>
              <a:rPr lang="it-IT" dirty="0"/>
              <a:t>» </a:t>
            </a:r>
            <a:r>
              <a:rPr lang="it-IT" dirty="0" err="1"/>
              <a:t>epistemology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the </a:t>
            </a:r>
            <a:r>
              <a:rPr lang="it-IT" dirty="0" err="1"/>
              <a:t>separation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natural</a:t>
            </a:r>
            <a:r>
              <a:rPr lang="it-IT" dirty="0"/>
              <a:t> world and human world</a:t>
            </a:r>
          </a:p>
          <a:p>
            <a:endParaRPr lang="it-IT" dirty="0"/>
          </a:p>
          <a:p>
            <a:r>
              <a:rPr lang="it-IT" dirty="0"/>
              <a:t>Beyond </a:t>
            </a:r>
            <a:r>
              <a:rPr lang="it-IT" dirty="0" err="1"/>
              <a:t>Unsustainable</a:t>
            </a:r>
            <a:r>
              <a:rPr lang="it-IT" dirty="0"/>
              <a:t> </a:t>
            </a:r>
            <a:r>
              <a:rPr lang="it-IT" dirty="0" err="1"/>
              <a:t>Epistemology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transdisciplinary</a:t>
            </a:r>
            <a:r>
              <a:rPr lang="it-IT" dirty="0"/>
              <a:t> </a:t>
            </a:r>
            <a:r>
              <a:rPr lang="it-IT" dirty="0" err="1"/>
              <a:t>conception</a:t>
            </a:r>
            <a:r>
              <a:rPr lang="it-IT" dirty="0"/>
              <a:t> of knowledge</a:t>
            </a:r>
          </a:p>
          <a:p>
            <a:pPr lvl="2"/>
            <a:r>
              <a:rPr lang="it-IT" dirty="0"/>
              <a:t>From </a:t>
            </a:r>
            <a:r>
              <a:rPr lang="it-IT" dirty="0" err="1"/>
              <a:t>Reductionism</a:t>
            </a:r>
            <a:r>
              <a:rPr lang="it-IT" dirty="0"/>
              <a:t> to </a:t>
            </a:r>
            <a:r>
              <a:rPr lang="it-IT" dirty="0" err="1"/>
              <a:t>Holism</a:t>
            </a:r>
            <a:endParaRPr lang="it-IT" dirty="0"/>
          </a:p>
          <a:p>
            <a:pPr lvl="1"/>
            <a:r>
              <a:rPr lang="it-IT" dirty="0"/>
              <a:t>A </a:t>
            </a:r>
            <a:r>
              <a:rPr lang="it-IT" dirty="0" err="1"/>
              <a:t>decentralized</a:t>
            </a:r>
            <a:r>
              <a:rPr lang="it-IT" dirty="0"/>
              <a:t> </a:t>
            </a:r>
            <a:r>
              <a:rPr lang="it-IT" dirty="0" err="1"/>
              <a:t>anthropocentrism</a:t>
            </a:r>
            <a:endParaRPr lang="it-IT" dirty="0"/>
          </a:p>
          <a:p>
            <a:pPr lvl="2"/>
            <a:r>
              <a:rPr lang="it-IT" dirty="0"/>
              <a:t>Integral </a:t>
            </a:r>
            <a:r>
              <a:rPr lang="it-IT" dirty="0" err="1"/>
              <a:t>ecology</a:t>
            </a:r>
            <a:endParaRPr lang="it-IT" dirty="0"/>
          </a:p>
          <a:p>
            <a:pPr lvl="2"/>
            <a:r>
              <a:rPr lang="it-IT" dirty="0" err="1"/>
              <a:t>Internal</a:t>
            </a:r>
            <a:r>
              <a:rPr lang="it-IT" dirty="0"/>
              <a:t> </a:t>
            </a:r>
            <a:r>
              <a:rPr lang="it-IT" dirty="0" err="1"/>
              <a:t>realism</a:t>
            </a:r>
            <a:endParaRPr lang="it-IT" dirty="0"/>
          </a:p>
          <a:p>
            <a:pPr lvl="2"/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8222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DCD5C7-1E3B-36B7-873D-B6905200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i="1" dirty="0"/>
              <a:t>Open Issues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ABE70A-151B-CAC4-C441-47ADC77B9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Applied </a:t>
            </a:r>
            <a:r>
              <a:rPr lang="it-IT" dirty="0" err="1"/>
              <a:t>Ontologies</a:t>
            </a:r>
            <a:r>
              <a:rPr lang="it-IT" dirty="0"/>
              <a:t> and Meta-</a:t>
            </a:r>
            <a:r>
              <a:rPr lang="it-IT" dirty="0" err="1"/>
              <a:t>ontology</a:t>
            </a:r>
            <a:r>
              <a:rPr lang="it-IT" dirty="0"/>
              <a:t>:</a:t>
            </a:r>
          </a:p>
          <a:p>
            <a:endParaRPr lang="it-IT" dirty="0"/>
          </a:p>
          <a:p>
            <a:pPr lvl="1"/>
            <a:r>
              <a:rPr lang="it-IT" sz="3600" dirty="0"/>
              <a:t>a </a:t>
            </a:r>
            <a:r>
              <a:rPr lang="it-IT" sz="3600" dirty="0" err="1"/>
              <a:t>virtuous</a:t>
            </a:r>
            <a:r>
              <a:rPr lang="it-IT" sz="3600" dirty="0"/>
              <a:t> </a:t>
            </a:r>
            <a:r>
              <a:rPr lang="it-IT" sz="3600" dirty="0" err="1"/>
              <a:t>circle</a:t>
            </a:r>
            <a:r>
              <a:rPr lang="it-IT" sz="3600" dirty="0"/>
              <a:t>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sz="3600" dirty="0"/>
              <a:t>The </a:t>
            </a:r>
            <a:r>
              <a:rPr lang="it-IT" sz="3600" dirty="0" err="1"/>
              <a:t>Sustainability</a:t>
            </a:r>
            <a:r>
              <a:rPr lang="it-IT" sz="3600" dirty="0"/>
              <a:t> Core </a:t>
            </a:r>
            <a:r>
              <a:rPr lang="it-IT" sz="3600" dirty="0" err="1"/>
              <a:t>Ontology</a:t>
            </a:r>
            <a:endParaRPr lang="it-IT" sz="3600" dirty="0"/>
          </a:p>
          <a:p>
            <a:pPr marL="457200" lvl="1" indent="0">
              <a:buNone/>
            </a:pPr>
            <a:endParaRPr lang="it-IT" sz="3600" dirty="0"/>
          </a:p>
          <a:p>
            <a:pPr lvl="1"/>
            <a:r>
              <a:rPr lang="it-IT" sz="3600" dirty="0"/>
              <a:t>Meta-</a:t>
            </a:r>
            <a:r>
              <a:rPr lang="it-IT" sz="3600" dirty="0" err="1"/>
              <a:t>Ontology</a:t>
            </a:r>
            <a:r>
              <a:rPr lang="it-IT" sz="3600" dirty="0"/>
              <a:t> </a:t>
            </a:r>
            <a:r>
              <a:rPr lang="it-IT" sz="3600" dirty="0" err="1"/>
              <a:t>as</a:t>
            </a:r>
            <a:r>
              <a:rPr lang="it-IT" sz="3600" dirty="0"/>
              <a:t> </a:t>
            </a:r>
            <a:r>
              <a:rPr lang="it-IT" sz="3600" dirty="0" err="1"/>
              <a:t>Education</a:t>
            </a:r>
            <a:r>
              <a:rPr lang="it-IT" sz="3600" dirty="0"/>
              <a:t>:</a:t>
            </a:r>
          </a:p>
          <a:p>
            <a:pPr lvl="2"/>
            <a:r>
              <a:rPr lang="it-IT" sz="3200" dirty="0"/>
              <a:t>Still </a:t>
            </a:r>
            <a:r>
              <a:rPr lang="it-IT" sz="3200" dirty="0" err="1"/>
              <a:t>Reductionism</a:t>
            </a:r>
            <a:r>
              <a:rPr lang="it-IT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941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B5A530-7B94-2204-E278-8A867DF4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Thank </a:t>
            </a:r>
            <a:r>
              <a:rPr lang="it-IT" dirty="0" err="1"/>
              <a:t>You</a:t>
            </a:r>
            <a:r>
              <a:rPr lang="it-IT" dirty="0"/>
              <a:t>!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B736C7-2F57-4C15-F16D-8DDC0B4DC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antonio.lizzadri@unicatt.it</a:t>
            </a:r>
          </a:p>
        </p:txBody>
      </p:sp>
    </p:spTree>
    <p:extLst>
      <p:ext uri="{BB962C8B-B14F-4D97-AF65-F5344CB8AC3E}">
        <p14:creationId xmlns:p14="http://schemas.microsoft.com/office/powerpoint/2010/main" val="2979705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128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Tema di Office</vt:lpstr>
      <vt:lpstr>Towards a Meta-ontology of Sustainability An Educational Perspective Antonio Lizzadri Catholic University of Milan</vt:lpstr>
      <vt:lpstr>Ontology of Sustainability from an Educational perspective</vt:lpstr>
      <vt:lpstr> Overcoming «unsustainable» epistemology </vt:lpstr>
      <vt:lpstr>Open Issues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Lizzadri Antonio (antonio.lizzadri)</dc:creator>
  <cp:lastModifiedBy>Lizzadri Antonio (antonio.lizzadri)</cp:lastModifiedBy>
  <cp:revision>2</cp:revision>
  <dcterms:created xsi:type="dcterms:W3CDTF">2025-11-12T16:08:46Z</dcterms:created>
  <dcterms:modified xsi:type="dcterms:W3CDTF">2025-11-12T19:02:04Z</dcterms:modified>
</cp:coreProperties>
</file>